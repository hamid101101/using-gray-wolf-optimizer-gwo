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306" r:id="rId4"/>
    <p:sldId id="259" r:id="rId6"/>
    <p:sldId id="260" r:id="rId7"/>
    <p:sldId id="261" r:id="rId8"/>
    <p:sldId id="262" r:id="rId9"/>
    <p:sldId id="263" r:id="rId10"/>
    <p:sldId id="273" r:id="rId11"/>
    <p:sldId id="271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7" r:id="rId29"/>
    <p:sldId id="288" r:id="rId30"/>
    <p:sldId id="291" r:id="rId31"/>
    <p:sldId id="293" r:id="rId32"/>
    <p:sldId id="296" r:id="rId33"/>
    <p:sldId id="298" r:id="rId34"/>
    <p:sldId id="300" r:id="rId35"/>
    <p:sldId id="299" r:id="rId36"/>
    <p:sldId id="303" r:id="rId37"/>
    <p:sldId id="30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oleObject" Target="../embeddings/oleObject5.bin"/><Relationship Id="rId7" Type="http://schemas.openxmlformats.org/officeDocument/2006/relationships/image" Target="../media/image25.wmf"/><Relationship Id="rId6" Type="http://schemas.openxmlformats.org/officeDocument/2006/relationships/oleObject" Target="../embeddings/oleObject4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7.wmf"/><Relationship Id="rId10" Type="http://schemas.openxmlformats.org/officeDocument/2006/relationships/oleObject" Target="../embeddings/oleObject6.bin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30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28.wmf"/><Relationship Id="rId2" Type="http://schemas.openxmlformats.org/officeDocument/2006/relationships/oleObject" Target="../embeddings/oleObject7.bin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4.wmf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2.bin"/><Relationship Id="rId3" Type="http://schemas.openxmlformats.org/officeDocument/2006/relationships/image" Target="../media/image32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38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36.wmf"/><Relationship Id="rId2" Type="http://schemas.openxmlformats.org/officeDocument/2006/relationships/oleObject" Target="../embeddings/oleObject14.bin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0.wmf"/><Relationship Id="rId2" Type="http://schemas.openxmlformats.org/officeDocument/2006/relationships/oleObject" Target="../embeddings/oleObject18.bin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3698240"/>
            <a:ext cx="4536440" cy="987425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Grey </a:t>
            </a:r>
            <a:r>
              <a:rPr lang="en-US" b="1" dirty="0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Wolf Optimizer(GWO)</a:t>
            </a:r>
            <a:endParaRPr lang="en-US" b="1" dirty="0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</p:txBody>
      </p:sp>
      <p:pic>
        <p:nvPicPr>
          <p:cNvPr id="4" name="Picture 3" descr="a60a05d6-42e0-4d28-b27c-79b172a4b0d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350" y="0"/>
            <a:ext cx="6858000" cy="6858000"/>
          </a:xfrm>
          <a:prstGeom prst="rect">
            <a:avLst/>
          </a:prstGeom>
        </p:spPr>
      </p:pic>
      <p:sp>
        <p:nvSpPr>
          <p:cNvPr id="5" name="ZoneTexte 2"/>
          <p:cNvSpPr txBox="1"/>
          <p:nvPr/>
        </p:nvSpPr>
        <p:spPr>
          <a:xfrm>
            <a:off x="290195" y="5099685"/>
            <a:ext cx="4756785" cy="16700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fr-FR" altLang="ko-KR" sz="2000" b="1" dirty="0">
                <a:solidFill>
                  <a:srgbClr val="34312C"/>
                </a:solidFill>
                <a:latin typeface="Bahnschrift Condensed" panose="020B0502040204020203" pitchFamily="34" charset="0"/>
                <a:ea typeface="Malgun Gothic" panose="020B0503020000020004" pitchFamily="50" charset="-127"/>
                <a:cs typeface="Arial" panose="020B0604020202020204" pitchFamily="34" charset="0"/>
              </a:rPr>
              <a:t>Réalisé</a:t>
            </a:r>
            <a:r>
              <a:rPr lang="en-US" altLang="ko-KR" sz="2000" b="1" dirty="0">
                <a:solidFill>
                  <a:srgbClr val="34312C"/>
                </a:solidFill>
                <a:latin typeface="Bahnschrift Condensed" panose="020B0502040204020203" pitchFamily="34" charset="0"/>
                <a:ea typeface="Malgun Gothic" panose="020B0503020000020004" pitchFamily="50" charset="-127"/>
                <a:cs typeface="Arial" panose="020B0604020202020204" pitchFamily="34" charset="0"/>
              </a:rPr>
              <a:t> par: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  <a:ea typeface="Malgun Gothic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GB" altLang="en-US" sz="2000" b="1" dirty="0">
                <a:solidFill>
                  <a:srgbClr val="7D7B83"/>
                </a:solidFill>
                <a:latin typeface="Bahnschrift Condensed" panose="020B0502040204020203" pitchFamily="34" charset="0"/>
                <a:ea typeface="Malgun Gothic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7D7B83"/>
                </a:solidFill>
                <a:latin typeface="Cascadia Code SemiBold" panose="020B0609020000020004" charset="0"/>
                <a:ea typeface="Malgun Gothic" panose="020B0503020000020004" pitchFamily="50" charset="-127"/>
                <a:cs typeface="Cascadia Code SemiBold" panose="020B0609020000020004" charset="0"/>
              </a:rPr>
              <a:t>ARBAOUI  OTHMANE</a:t>
            </a:r>
            <a:endParaRPr lang="en-GB" sz="2000" b="1" dirty="0">
              <a:solidFill>
                <a:srgbClr val="7D7B83"/>
              </a:solidFill>
              <a:latin typeface="Cascadia Code SemiBold" panose="020B0609020000020004" charset="0"/>
              <a:ea typeface="Malgun Gothic" panose="020B0503020000020004" pitchFamily="50" charset="-127"/>
              <a:cs typeface="Cascadia Code SemiBold" panose="020B0609020000020004" charset="0"/>
            </a:endParaRPr>
          </a:p>
          <a:p>
            <a:pPr marL="914400" lvl="2" indent="457200">
              <a:lnSpc>
                <a:spcPct val="150000"/>
              </a:lnSpc>
            </a:pPr>
            <a:r>
              <a:rPr lang="en-GB" sz="2000" b="1" dirty="0">
                <a:solidFill>
                  <a:srgbClr val="7D7B83"/>
                </a:solidFill>
                <a:latin typeface="Cascadia Code SemiBold" panose="020B0609020000020004" charset="0"/>
                <a:ea typeface="Malgun Gothic" panose="020B0503020000020004" pitchFamily="50" charset="-127"/>
                <a:cs typeface="Cascadia Code SemiBold" panose="020B0609020000020004" charset="0"/>
              </a:rPr>
              <a:t> BERCHID  WALID</a:t>
            </a:r>
            <a:endParaRPr lang="en-GB" sz="2000" b="1" dirty="0">
              <a:solidFill>
                <a:srgbClr val="7D7B83"/>
              </a:solidFill>
              <a:latin typeface="Cascadia Code SemiBold" panose="020B0609020000020004" charset="0"/>
              <a:ea typeface="Malgun Gothic" panose="020B0503020000020004" pitchFamily="50" charset="-127"/>
              <a:cs typeface="Cascadia Code SemiBold" panose="020B0609020000020004" charset="0"/>
            </a:endParaRPr>
          </a:p>
          <a:p>
            <a:pPr marL="914400" lvl="2" indent="457200">
              <a:lnSpc>
                <a:spcPct val="150000"/>
              </a:lnSpc>
            </a:pPr>
            <a:r>
              <a:rPr lang="en-GB" sz="2000" b="1" dirty="0">
                <a:solidFill>
                  <a:srgbClr val="7D7B83"/>
                </a:solidFill>
                <a:latin typeface="Cascadia Code SemiBold" panose="020B0609020000020004" charset="0"/>
                <a:ea typeface="Malgun Gothic" panose="020B0503020000020004" pitchFamily="50" charset="-127"/>
                <a:cs typeface="Cascadia Code SemiBold" panose="020B0609020000020004" charset="0"/>
              </a:rPr>
              <a:t> BOUKHRIS ABDELHAMID</a:t>
            </a:r>
            <a:r>
              <a:rPr lang="en-US" altLang="ko-KR" sz="2000" b="1" dirty="0">
                <a:latin typeface="Cascadia Code SemiBold" panose="020B0609020000020004" charset="0"/>
                <a:ea typeface="Malgun Gothic" panose="020B0503020000020004" pitchFamily="50" charset="-127"/>
                <a:cs typeface="Cascadia Code SemiBold" panose="020B0609020000020004" charset="0"/>
              </a:rPr>
              <a:t> </a:t>
            </a:r>
            <a:r>
              <a:rPr lang="en-US" altLang="ko-KR" sz="2000" b="1" dirty="0">
                <a:latin typeface="Bahnschrift Condensed" panose="020B0502040204020203" pitchFamily="34" charset="0"/>
                <a:ea typeface="Malgun Gothic" panose="020B0503020000020004" pitchFamily="50" charset="-127"/>
                <a:cs typeface="Arial" panose="020B0604020202020204" pitchFamily="34" charset="0"/>
              </a:rPr>
              <a:t>                 </a:t>
            </a:r>
            <a:endParaRPr lang="en-US" altLang="ko-KR" sz="2000" b="1" dirty="0">
              <a:latin typeface="Bahnschrift Condensed" panose="020B0502040204020203" pitchFamily="34" charset="0"/>
              <a:ea typeface="Malgun Gothic" panose="020B0503020000020004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Bahnschrift Condensed" panose="020B0502040204020203" pitchFamily="34" charset="0"/>
                <a:ea typeface="Malgun Gothic" panose="020B0503020000020004" pitchFamily="50" charset="-127"/>
                <a:cs typeface="Arial" panose="020B0604020202020204" pitchFamily="34" charset="0"/>
              </a:rPr>
              <a:t>                     </a:t>
            </a:r>
            <a:endParaRPr lang="en-US" altLang="ko-KR" sz="2000" b="1" dirty="0">
              <a:latin typeface="Bahnschrift Condensed" panose="020B0502040204020203" pitchFamily="34" charset="0"/>
              <a:ea typeface="Malgun Gothic" panose="020B0503020000020004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  <a:ea typeface="Malgun Gothic" panose="020B0503020000020004" pitchFamily="50" charset="-127"/>
                <a:cs typeface="Arial" panose="020B0604020202020204" pitchFamily="34" charset="0"/>
              </a:rPr>
              <a:t>                      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  <a:ea typeface="Malgun Gothic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" name="x2mate.com - Gray Wolf Alawa Howls (128 kbps)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" y="17780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0" mute="1" numSld="999" showWhenStopped="0">
                <p:cTn id="11" repeatCount="indefinite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grayscl/>
            <a:lum contrast="12000"/>
          </a:blip>
          <a:stretch>
            <a:fillRect/>
          </a:stretch>
        </p:blipFill>
        <p:spPr>
          <a:xfrm>
            <a:off x="-133350" y="-155575"/>
            <a:ext cx="12785725" cy="73571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3880" y="-398145"/>
            <a:ext cx="13323570" cy="76606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12495" y="2755265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66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Plan</a:t>
            </a:r>
            <a:endParaRPr lang="en-GB" sz="66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096000" y="1313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Inspiration de l'algorithme</a:t>
            </a:r>
            <a:endParaRPr lang="en-GB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096000" y="20034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mathématique</a:t>
            </a:r>
            <a:endParaRPr lang="en-GB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6096000" y="2693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GWO algorithme</a:t>
            </a:r>
            <a:endParaRPr lang="fr-FR" b="1" dirty="0">
              <a:solidFill>
                <a:srgbClr val="273239"/>
              </a:solidFill>
              <a:effectLst/>
              <a:latin typeface="Bahnschrift SemiBold SemiConden" panose="020B0502040204020203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096000" y="3383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Résoudre le TSP en utilisant GWO</a:t>
            </a:r>
            <a:endParaRPr lang="fr-FR" b="1" dirty="0">
              <a:solidFill>
                <a:srgbClr val="273239"/>
              </a:solidFill>
              <a:effectLst/>
              <a:latin typeface="Bahnschrift SemiBold SemiConden" panose="020B0502040204020203" pitchFamily="3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096000" y="40741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Optimisation de</a:t>
            </a:r>
            <a:r>
              <a:rPr lang="en-GB" alt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s paramètres du</a:t>
            </a: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 neural network avec GWO</a:t>
            </a:r>
            <a:endParaRPr lang="fr-FR" b="1" dirty="0">
              <a:solidFill>
                <a:srgbClr val="273239"/>
              </a:solidFill>
              <a:effectLst/>
              <a:latin typeface="Bahnschrift SemiBold SemiConden" panose="020B0502040204020203" pitchFamily="3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096000" y="50412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Optimisation </a:t>
            </a: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de</a:t>
            </a:r>
            <a:r>
              <a:rPr lang="en-GB" alt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s hyperparamètres du </a:t>
            </a:r>
            <a:r>
              <a:rPr lang="fr-FR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neural network avec GWO</a:t>
            </a:r>
            <a:endParaRPr lang="fr-FR" b="1" dirty="0">
              <a:solidFill>
                <a:srgbClr val="273239"/>
              </a:solidFill>
              <a:effectLst/>
              <a:latin typeface="Bahnschrift SemiBold SemiConden" panose="020B0502040204020203" pitchFamily="34" charset="0"/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60000" y="2938780"/>
            <a:ext cx="1068070" cy="1102360"/>
          </a:xfrm>
          <a:prstGeom prst="rect">
            <a:avLst/>
          </a:prstGeom>
        </p:spPr>
      </p:pic>
      <p:pic>
        <p:nvPicPr>
          <p:cNvPr id="12" name="Picture 11" descr="electricity_17386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0" y="716280"/>
            <a:ext cx="589280" cy="589280"/>
          </a:xfrm>
          <a:prstGeom prst="rect">
            <a:avLst/>
          </a:prstGeom>
        </p:spPr>
      </p:pic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360" y="1497965"/>
            <a:ext cx="1437640" cy="1437640"/>
          </a:xfrm>
          <a:prstGeom prst="rect">
            <a:avLst/>
          </a:prstGeom>
        </p:spPr>
      </p:pic>
      <p:pic>
        <p:nvPicPr>
          <p:cNvPr id="16" name="Picture 15" descr="flowchart_126280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280" y="2169160"/>
            <a:ext cx="1188720" cy="1188720"/>
          </a:xfrm>
          <a:prstGeom prst="rect">
            <a:avLst/>
          </a:prstGeom>
        </p:spPr>
      </p:pic>
      <p:pic>
        <p:nvPicPr>
          <p:cNvPr id="21" name="Picture 20" descr="93046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5060" y="4200525"/>
            <a:ext cx="1975485" cy="1975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10" grpId="0"/>
      <p:bldP spid="9" grpId="1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electricity_17386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" y="281940"/>
            <a:ext cx="589280" cy="5892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36550" y="2660015"/>
            <a:ext cx="51816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Les loups sont connus pour leur comportement social et coopératif. Ils vivent en meute et présentent une forte hiérarchie au sein du groupe.</a:t>
            </a:r>
            <a:endParaRPr lang="en-GB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6550" y="4763135"/>
            <a:ext cx="53568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La structure sociale de la meute de loups implique des loups alpha, bêta et oméga, chacun ayant des rôles et des responsabilités spécifiques.</a:t>
            </a:r>
            <a:endParaRPr lang="en-GB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pic>
        <p:nvPicPr>
          <p:cNvPr id="9" name="Picture 8" descr="a60a05d6-42e0-4d28-b27c-79b172a4b0d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045" y="-635"/>
            <a:ext cx="6858000" cy="685800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231900" y="3155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Inspiration de l'algo</a:t>
            </a:r>
            <a:r>
              <a:rPr lang="fr-FR" sz="2800" b="1" dirty="0">
                <a:solidFill>
                  <a:schemeClr val="bg1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rithme</a:t>
            </a:r>
            <a:endParaRPr lang="fr-FR" altLang="en-US" sz="2800" b="1" dirty="0">
              <a:solidFill>
                <a:schemeClr val="bg1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571625" y="96837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Comportement des Loups Gris 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10" grpId="0"/>
      <p:bldP spid="10" grpId="1"/>
      <p:bldP spid="11" grpId="0"/>
      <p:bldP spid="1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239520"/>
            <a:ext cx="5209540" cy="4098925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 flipV="1">
            <a:off x="6202680" y="1839595"/>
            <a:ext cx="1120140" cy="5080"/>
          </a:xfrm>
          <a:prstGeom prst="straightConnector1">
            <a:avLst/>
          </a:prstGeom>
          <a:ln>
            <a:solidFill>
              <a:srgbClr val="34312C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Left Bracket 3"/>
          <p:cNvSpPr/>
          <p:nvPr/>
        </p:nvSpPr>
        <p:spPr>
          <a:xfrm>
            <a:off x="7322820" y="1149350"/>
            <a:ext cx="408305" cy="119380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7322820" y="1331595"/>
            <a:ext cx="45497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1- Responsable de prendre des décisions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2- Pas toujours le membre le plus fort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3- Le meilleur pour gérer le groupe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959600" y="3937000"/>
            <a:ext cx="1120140" cy="5080"/>
          </a:xfrm>
          <a:prstGeom prst="straightConnector1">
            <a:avLst/>
          </a:prstGeom>
          <a:ln>
            <a:solidFill>
              <a:srgbClr val="34312C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Left Bracket 6"/>
          <p:cNvSpPr/>
          <p:nvPr/>
        </p:nvSpPr>
        <p:spPr>
          <a:xfrm>
            <a:off x="8059420" y="3246755"/>
            <a:ext cx="408305" cy="119380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8058150" y="3331845"/>
            <a:ext cx="454977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1- Les autres loups du groupe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2- Ils doivent suivre l'alpha et le bêta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3- Défendre le groupe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4- Soutenir la chasse de l'alpha et du bêta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3996690" y="2834005"/>
            <a:ext cx="1140460" cy="173355"/>
          </a:xfrm>
          <a:prstGeom prst="straightConnector1">
            <a:avLst/>
          </a:prstGeom>
          <a:ln>
            <a:solidFill>
              <a:srgbClr val="34312C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Left Bracket 9"/>
          <p:cNvSpPr/>
          <p:nvPr/>
        </p:nvSpPr>
        <p:spPr>
          <a:xfrm flipH="1">
            <a:off x="3600450" y="2233930"/>
            <a:ext cx="396240" cy="119380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148590" y="2343150"/>
            <a:ext cx="4010660" cy="1084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1- Aider l'alpha dans la prise de décision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2- Le meilleur candidat pour être alpha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3- Conseiller de l'alpha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4- Disciplinateur du groupe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2696210" y="4963160"/>
            <a:ext cx="1165860" cy="30480"/>
          </a:xfrm>
          <a:prstGeom prst="straightConnector1">
            <a:avLst/>
          </a:prstGeom>
          <a:ln>
            <a:solidFill>
              <a:srgbClr val="34312C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Left Bracket 14"/>
          <p:cNvSpPr/>
          <p:nvPr/>
        </p:nvSpPr>
        <p:spPr>
          <a:xfrm flipH="1">
            <a:off x="2529205" y="4529455"/>
            <a:ext cx="167005" cy="89852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624840" y="4666615"/>
            <a:ext cx="2021840" cy="341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Le plus bas dans 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ctr"/>
            <a:r>
              <a:rPr lang="en-GB" altLang="en-US" sz="1600">
                <a:latin typeface="Bahnschrift SemiBold" panose="020B0502040204020203" charset="0"/>
                <a:cs typeface="Bahnschrift SemiBold" panose="020B0502040204020203" charset="0"/>
              </a:rPr>
              <a:t>la hiérarchie</a:t>
            </a:r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ctr"/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ctr"/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ctr"/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ctr"/>
            <a:endParaRPr lang="en-GB" altLang="en-US"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5" grpId="0"/>
      <p:bldP spid="5" grpId="1"/>
      <p:bldP spid="7" grpId="0" bldLvl="0" animBg="1"/>
      <p:bldP spid="7" grpId="1" animBg="1"/>
      <p:bldP spid="8" grpId="0"/>
      <p:bldP spid="8" grpId="1"/>
      <p:bldP spid="10" grpId="0" bldLvl="0" animBg="1"/>
      <p:bldP spid="10" grpId="1" animBg="1"/>
      <p:bldP spid="12" grpId="0"/>
      <p:bldP spid="12" grpId="1"/>
      <p:bldP spid="15" grpId="0" bldLvl="0" animBg="1"/>
      <p:bldP spid="15" grpId="1" animBg="1"/>
      <p:bldP spid="17" grpId="0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electricity_17386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" y="281940"/>
            <a:ext cx="589280" cy="58928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231900" y="3155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Inspiration de l'algorithme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231900" y="8712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  <a:sym typeface="+mn-ea"/>
              </a:rPr>
              <a:t>M</a:t>
            </a:r>
            <a:r>
              <a:rPr lang="fr-FR" sz="2000" dirty="0">
                <a:solidFill>
                  <a:srgbClr val="00B050"/>
                </a:solidFill>
                <a:effectLst/>
                <a:latin typeface="Bahnschrift SemiBold Condensed" panose="020B0502040204020203" charset="0"/>
                <a:cs typeface="Bahnschrift SemiBold Condensed" panose="020B0502040204020203" charset="0"/>
                <a:sym typeface="+mn-ea"/>
              </a:rPr>
              <a:t>écanisme de chasse au loup gris</a:t>
            </a:r>
            <a:endParaRPr lang="fr-FR" altLang="en-US" sz="2000" dirty="0">
              <a:solidFill>
                <a:srgbClr val="00B050"/>
              </a:solidFill>
              <a:effectLst/>
              <a:latin typeface="Bahnschrift SemiBold Condensed" panose="020B0502040204020203" charset="0"/>
              <a:cs typeface="Bahnschrift SemiBold Condensed" panose="020B0502040204020203" charset="0"/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48920" y="2486025"/>
            <a:ext cx="509143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fr-FR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 </a:t>
            </a:r>
            <a:r>
              <a:rPr lang="fr-FR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Les principales phases de la chasse au loup gris sont les suivantes :</a:t>
            </a:r>
            <a:endParaRPr lang="fr-FR" dirty="0">
              <a:solidFill>
                <a:srgbClr val="000000"/>
              </a:solidFill>
              <a:effectLst/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br>
              <a:rPr lang="fr-FR" dirty="0"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</a:br>
            <a:r>
              <a:rPr lang="fr-FR" b="1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     1 -</a:t>
            </a:r>
            <a:r>
              <a:rPr lang="fr-FR" b="1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Suivre, chasser et approcher la proie.</a:t>
            </a:r>
            <a:br>
              <a:rPr lang="fr-FR" dirty="0"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</a:br>
            <a:r>
              <a:rPr lang="fr-FR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     </a:t>
            </a:r>
            <a:r>
              <a:rPr lang="fr-FR" b="1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2</a:t>
            </a:r>
            <a:r>
              <a:rPr lang="fr-FR" b="1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-</a:t>
            </a:r>
            <a:r>
              <a:rPr lang="fr-FR" b="1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Poursuivre, encercler et harceler la proie jusqu'à</a:t>
            </a:r>
            <a:r>
              <a:rPr lang="en-GB" altLang="fr-FR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ce qu'elle </a:t>
            </a:r>
            <a:r>
              <a:rPr lang="fr-FR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arrête de</a:t>
            </a:r>
            <a:r>
              <a:rPr lang="fr-FR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bouger.</a:t>
            </a:r>
            <a:br>
              <a:rPr lang="fr-FR" dirty="0"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</a:br>
            <a:r>
              <a:rPr lang="fr-FR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      </a:t>
            </a:r>
            <a:r>
              <a:rPr lang="fr-FR" b="1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3- </a:t>
            </a:r>
            <a:r>
              <a:rPr lang="fr-FR" dirty="0">
                <a:solidFill>
                  <a:srgbClr val="000000"/>
                </a:solidFill>
                <a:effectLst/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Attaque vers la proie</a:t>
            </a:r>
            <a:r>
              <a:rPr lang="fr-FR" dirty="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 </a:t>
            </a:r>
            <a:endParaRPr lang="fr-FR" altLang="en-US" dirty="0"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pic>
        <p:nvPicPr>
          <p:cNvPr id="20" name="Picture 19" descr="fig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0640" y="1212215"/>
            <a:ext cx="7071360" cy="4336415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6110605" y="5412740"/>
            <a:ext cx="509143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fr-FR" dirty="0">
                <a:solidFill>
                  <a:srgbClr val="FF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(A)</a:t>
            </a:r>
            <a:r>
              <a:rPr lang="en-GB" altLang="fr-FR" dirty="0">
                <a:solidFill>
                  <a:srgbClr val="FF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</a:t>
            </a:r>
            <a:r>
              <a:rPr lang="fr-FR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suivre, chasser et approcher la proie</a:t>
            </a:r>
            <a:endParaRPr lang="fr-FR" dirty="0">
              <a:solidFill>
                <a:srgbClr val="000000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fr-FR" dirty="0">
                <a:solidFill>
                  <a:srgbClr val="FF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(B-D)</a:t>
            </a:r>
            <a:r>
              <a:rPr lang="fr-FR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poursuivre, encercler et harceler la proie. </a:t>
            </a:r>
            <a:endParaRPr lang="fr-FR" dirty="0">
              <a:solidFill>
                <a:srgbClr val="000000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fr-FR" dirty="0">
                <a:solidFill>
                  <a:srgbClr val="FF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(E)</a:t>
            </a:r>
            <a:r>
              <a:rPr lang="fr-FR" dirty="0">
                <a:solidFill>
                  <a:srgbClr val="000000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 situation stationnaire et attaque </a:t>
            </a:r>
            <a:endParaRPr lang="fr-FR" dirty="0">
              <a:solidFill>
                <a:srgbClr val="000000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6" grpId="0"/>
      <p:bldP spid="16" grpId="1"/>
      <p:bldP spid="19" grpId="0"/>
      <p:bldP spid="19" grpId="1"/>
      <p:bldP spid="22" grpId="0"/>
      <p:bldP spid="2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80670" y="1621155"/>
            <a:ext cx="75863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Pour formaliser la structure sociale des loups de manière mathématique lors de la conception de l'algorithme GWO, nous attribuons les rôles suivants aux solutions dans l'espace de recherche :</a:t>
            </a:r>
            <a:endParaRPr lang="en-GB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1480" y="2874645"/>
            <a:ext cx="75863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La solution optimale est représentée par l'alpha</a:t>
            </a:r>
            <a:r>
              <a:rPr lang="en-GB" altLang="en-US">
                <a:solidFill>
                  <a:srgbClr val="FF0000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en-GB" altLang="en-US">
                <a:solidFill>
                  <a:srgbClr val="8FA3EA"/>
                </a:solidFill>
                <a:latin typeface="Bahnschrift SemiBold" panose="020B0502040204020203" charset="0"/>
                <a:cs typeface="Bahnschrift SemiBold" panose="020B0502040204020203" charset="0"/>
              </a:rPr>
              <a:t>(α)</a:t>
            </a: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.</a:t>
            </a:r>
            <a:endParaRPr lang="en-GB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8940" y="3633470"/>
            <a:ext cx="65481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Les deuxième et troisième meilleures solutions sont respectivement désignées par beta</a:t>
            </a:r>
            <a:r>
              <a:rPr lang="en-GB" altLang="en-US">
                <a:solidFill>
                  <a:srgbClr val="FF0000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en-GB" altLang="en-US">
                <a:solidFill>
                  <a:srgbClr val="FF7469"/>
                </a:solidFill>
                <a:latin typeface="Bahnschrift SemiBold" panose="020B0502040204020203" charset="0"/>
                <a:cs typeface="Bahnschrift SemiBold" panose="020B0502040204020203" charset="0"/>
              </a:rPr>
              <a:t>(β)</a:t>
            </a: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 et delta</a:t>
            </a:r>
            <a:r>
              <a:rPr lang="en-GB" altLang="en-US">
                <a:solidFill>
                  <a:srgbClr val="FF0000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en-GB" altLang="en-US">
                <a:solidFill>
                  <a:srgbClr val="00B050"/>
                </a:solidFill>
                <a:latin typeface="Bahnschrift SemiBold" panose="020B0502040204020203" charset="0"/>
                <a:cs typeface="Bahnschrift SemiBold" panose="020B0502040204020203" charset="0"/>
              </a:rPr>
              <a:t>(δ)</a:t>
            </a: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.</a:t>
            </a:r>
            <a:endParaRPr lang="en-GB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07670" y="4669155"/>
            <a:ext cx="66401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Les autres solutions candidates sont considérées comme des omégas </a:t>
            </a:r>
            <a:r>
              <a:rPr lang="en-GB" altLang="en-US">
                <a:solidFill>
                  <a:srgbClr val="FDF731"/>
                </a:solidFill>
                <a:latin typeface="Bahnschrift SemiBold" panose="020B0502040204020203" charset="0"/>
                <a:cs typeface="Bahnschrift SemiBold" panose="020B0502040204020203" charset="0"/>
              </a:rPr>
              <a:t>(ω)</a:t>
            </a:r>
            <a:r>
              <a:rPr lang="en-GB" altLang="en-US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 :</a:t>
            </a:r>
            <a:endParaRPr lang="en-GB" altLang="en-US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0210" y="5704840"/>
            <a:ext cx="75863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Bold" panose="020B0502040204020203" charset="0"/>
                <a:cs typeface="Bahnschrift SemiBold" panose="020B0502040204020203" charset="0"/>
              </a:rPr>
              <a:t> Dans le cadre de l'algorithme GWO, l'optimisation est dirigée par les loups alpha, beta et delta, tandis que les loups omégas suivent ces trois leaders.</a:t>
            </a:r>
            <a:endParaRPr lang="en-GB" altLang="en-US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775" y="2971800"/>
            <a:ext cx="5461000" cy="263525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 rot="2640000">
            <a:off x="11137900" y="4150995"/>
            <a:ext cx="1050925" cy="278130"/>
          </a:xfrm>
          <a:prstGeom prst="rect">
            <a:avLst/>
          </a:prstGeom>
          <a:solidFill>
            <a:srgbClr val="00B050">
              <a:alpha val="55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" grpId="1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83260" y="1543050"/>
            <a:ext cx="79159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les loups gris encerclent leur proie pendant la chasse. Afin de modéliser mathématiquement ce comportement d'encerclement, les équations suivantes sont proposées :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2815" y="2647315"/>
            <a:ext cx="4193540" cy="993775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36130" y="2551430"/>
            <a:ext cx="4039870" cy="1186180"/>
          </a:xfrm>
          <a:prstGeom prst="rect">
            <a:avLst/>
          </a:prstGeom>
        </p:spPr>
      </p:pic>
      <p:cxnSp>
        <p:nvCxnSpPr>
          <p:cNvPr id="75" name="Straight Arrow Connector 74"/>
          <p:cNvCxnSpPr/>
          <p:nvPr/>
        </p:nvCxnSpPr>
        <p:spPr>
          <a:xfrm flipH="1" flipV="1">
            <a:off x="2804160" y="3433445"/>
            <a:ext cx="4970780" cy="58610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7743825" y="3505835"/>
            <a:ext cx="1590675" cy="51308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Text Box 76"/>
          <p:cNvSpPr txBox="1"/>
          <p:nvPr/>
        </p:nvSpPr>
        <p:spPr>
          <a:xfrm>
            <a:off x="6562090" y="4097655"/>
            <a:ext cx="2411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>
                <a:solidFill>
                  <a:srgbClr val="FF000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le vecteur de position de la proie</a:t>
            </a:r>
            <a:endParaRPr lang="en-GB" altLang="en-US">
              <a:solidFill>
                <a:srgbClr val="FF000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 flipV="1">
            <a:off x="4049395" y="3339465"/>
            <a:ext cx="31750" cy="99377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Text Box 78"/>
          <p:cNvSpPr txBox="1"/>
          <p:nvPr/>
        </p:nvSpPr>
        <p:spPr>
          <a:xfrm>
            <a:off x="2859405" y="4333240"/>
            <a:ext cx="2411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>
                <a:latin typeface="Bahnschrift SemiBold Condensed" panose="020B0502040204020203" charset="0"/>
                <a:cs typeface="Bahnschrift SemiBold Condensed" panose="020B0502040204020203" charset="0"/>
              </a:rPr>
              <a:t>indique le vecteur de position d'un loup gris.</a:t>
            </a:r>
            <a:endParaRPr lang="en-GB" altLang="en-US"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cxnSp>
        <p:nvCxnSpPr>
          <p:cNvPr id="80" name="Straight Arrow Connector 79"/>
          <p:cNvCxnSpPr/>
          <p:nvPr/>
        </p:nvCxnSpPr>
        <p:spPr>
          <a:xfrm flipH="1" flipV="1">
            <a:off x="2332990" y="3328670"/>
            <a:ext cx="6352540" cy="236537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8674735" y="3370580"/>
            <a:ext cx="1633220" cy="232283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Text Box 81"/>
          <p:cNvSpPr txBox="1"/>
          <p:nvPr/>
        </p:nvSpPr>
        <p:spPr>
          <a:xfrm>
            <a:off x="5829300" y="5694045"/>
            <a:ext cx="5833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>
                <a:latin typeface="Bahnschrift SemiBold Condensed" panose="020B0502040204020203" charset="0"/>
                <a:cs typeface="Bahnschrift SemiBold Condensed" panose="020B0502040204020203" charset="0"/>
              </a:rPr>
              <a:t>    sont des vecteurs de coefficients</a:t>
            </a:r>
            <a:endParaRPr lang="en-GB" altLang="en-US"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7840" y="5991860"/>
            <a:ext cx="1104900" cy="358140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56880" y="6325870"/>
            <a:ext cx="1005840" cy="381000"/>
          </a:xfrm>
          <a:prstGeom prst="rect">
            <a:avLst/>
          </a:prstGeom>
        </p:spPr>
      </p:pic>
      <p:sp>
        <p:nvSpPr>
          <p:cNvPr id="14" name="ZoneTexte 35"/>
          <p:cNvSpPr txBox="1"/>
          <p:nvPr/>
        </p:nvSpPr>
        <p:spPr>
          <a:xfrm>
            <a:off x="2724150" y="6132830"/>
            <a:ext cx="4571365" cy="661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fr-FR" b="0" i="0" dirty="0">
                <a:solidFill>
                  <a:srgbClr val="FF0000"/>
                </a:solidFill>
                <a:effectLst/>
                <a:latin typeface="Bahnschrift Light Condensed" panose="020B0502040204020203" pitchFamily="34" charset="0"/>
              </a:rPr>
              <a:t>a</a:t>
            </a:r>
            <a:r>
              <a:rPr lang="fr-FR" b="0" i="0" dirty="0"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est diminué linéairement de 2 à 0</a:t>
            </a:r>
            <a:endParaRPr lang="fr-FR" b="0" i="0" dirty="0"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fr-FR" b="0" i="0" dirty="0">
                <a:solidFill>
                  <a:srgbClr val="FF0000"/>
                </a:solidFill>
                <a:effectLst/>
                <a:latin typeface="Bahnschrift Light Condensed" panose="020B0502040204020203" pitchFamily="34" charset="0"/>
              </a:rPr>
              <a:t>r</a:t>
            </a:r>
            <a:r>
              <a:rPr lang="en-GB" altLang="fr-FR" b="0" i="0" dirty="0"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 est un </a:t>
            </a:r>
            <a:r>
              <a:rPr lang="fr-FR" b="0" i="0" dirty="0"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vecteur aléatoire dans [0.1</a:t>
            </a:r>
            <a:r>
              <a:rPr lang="en-GB" altLang="fr-FR" b="0" i="0" dirty="0"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]</a:t>
            </a:r>
            <a:br>
              <a:rPr lang="fr-FR" sz="1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</a:br>
            <a:endParaRPr lang="fr-FR" sz="1400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grayscl/>
          </a:blip>
          <a:srcRect r="1978" b="56095"/>
          <a:stretch>
            <a:fillRect/>
          </a:stretch>
        </p:blipFill>
        <p:spPr>
          <a:xfrm>
            <a:off x="6530340" y="1499870"/>
            <a:ext cx="4469130" cy="70675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grayscl/>
          </a:blip>
          <a:srcRect r="27868" b="52623"/>
          <a:stretch>
            <a:fillRect/>
          </a:stretch>
        </p:blipFill>
        <p:spPr>
          <a:xfrm>
            <a:off x="6358890" y="3345180"/>
            <a:ext cx="4706620" cy="781050"/>
          </a:xfrm>
          <a:prstGeom prst="rect">
            <a:avLst/>
          </a:prstGeom>
        </p:spPr>
      </p:pic>
      <p:pic>
        <p:nvPicPr>
          <p:cNvPr id="6" name="Picture 2" descr="Text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79375" y="2875915"/>
            <a:ext cx="5712460" cy="198945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180590" y="1131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0B050"/>
                </a:solidFill>
                <a:latin typeface="Bahnschrift SemiBold Condensed" panose="020B0502040204020203" charset="0"/>
                <a:ea typeface="+mn-lt"/>
                <a:cs typeface="Bahnschrift SemiBold Condensed" panose="020B0502040204020203" charset="0"/>
                <a:sym typeface="+mn-ea"/>
              </a:rPr>
              <a:t>mettre</a:t>
            </a:r>
            <a:r>
              <a:rPr lang="en-US" b="1" dirty="0">
                <a:solidFill>
                  <a:srgbClr val="00B050"/>
                </a:solidFill>
                <a:latin typeface="Bahnschrift SemiBold Condensed" panose="020B0502040204020203" charset="0"/>
                <a:ea typeface="+mn-lt"/>
                <a:cs typeface="Bahnschrift SemiBold Condensed" panose="020B0502040204020203" charset="0"/>
                <a:sym typeface="+mn-ea"/>
              </a:rPr>
              <a:t> à jour la position du </a:t>
            </a:r>
            <a:r>
              <a:rPr lang="en-US" b="1" dirty="0" err="1">
                <a:solidFill>
                  <a:srgbClr val="00B050"/>
                </a:solidFill>
                <a:latin typeface="Bahnschrift SemiBold Condensed" panose="020B0502040204020203" charset="0"/>
                <a:ea typeface="+mn-lt"/>
                <a:cs typeface="Bahnschrift SemiBold Condensed" panose="020B0502040204020203" charset="0"/>
                <a:sym typeface="+mn-ea"/>
              </a:rPr>
              <a:t>loup</a:t>
            </a:r>
            <a:endParaRPr lang="en-US" altLang="en-US" b="1" dirty="0" err="1">
              <a:solidFill>
                <a:srgbClr val="00B050"/>
              </a:solidFill>
              <a:latin typeface="Bahnschrift SemiBold Condensed" panose="020B0502040204020203" charset="0"/>
              <a:ea typeface="+mn-lt"/>
              <a:cs typeface="Bahnschrift SemiBold Condensed" panose="020B0502040204020203" charset="0"/>
              <a:sym typeface="+mn-ea"/>
            </a:endParaRPr>
          </a:p>
        </p:txBody>
      </p:sp>
      <p:pic>
        <p:nvPicPr>
          <p:cNvPr id="9" name="Image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grayscl/>
          </a:blip>
          <a:srcRect t="44221" r="-1811"/>
          <a:stretch>
            <a:fillRect/>
          </a:stretch>
        </p:blipFill>
        <p:spPr>
          <a:xfrm>
            <a:off x="6416040" y="2324100"/>
            <a:ext cx="4731385" cy="915035"/>
          </a:xfrm>
          <a:prstGeom prst="rect">
            <a:avLst/>
          </a:prstGeom>
        </p:spPr>
      </p:pic>
      <p:pic>
        <p:nvPicPr>
          <p:cNvPr id="12" name="Image 1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grayscl/>
          </a:blip>
          <a:srcRect t="39724" r="26382"/>
          <a:stretch>
            <a:fillRect/>
          </a:stretch>
        </p:blipFill>
        <p:spPr>
          <a:xfrm>
            <a:off x="6854190" y="4865370"/>
            <a:ext cx="3855720" cy="817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3"/>
          <p:cNvSpPr txBox="1"/>
          <p:nvPr/>
        </p:nvSpPr>
        <p:spPr>
          <a:xfrm>
            <a:off x="1231900" y="3155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GWO algorithme</a:t>
            </a:r>
            <a:endParaRPr lang="fr-FR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2" name="Picture 1" descr="flowchart_12628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" y="91440"/>
            <a:ext cx="970280" cy="9702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9800" y="1061720"/>
            <a:ext cx="7772400" cy="5128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812290" y="1146175"/>
            <a:ext cx="22136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Initialisation 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606040" y="17780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/>
              <a:t>le nombre des iterations = </a:t>
            </a:r>
            <a:r>
              <a:rPr lang="en-GB" altLang="en-US">
                <a:solidFill>
                  <a:srgbClr val="00B050"/>
                </a:solidFill>
              </a:rPr>
              <a:t>T = 5</a:t>
            </a:r>
            <a:endParaRPr lang="en-GB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/>
              <a:t>le nombre des loups = </a:t>
            </a:r>
            <a:r>
              <a:rPr lang="en-GB" altLang="en-US">
                <a:solidFill>
                  <a:srgbClr val="00B050"/>
                </a:solidFill>
              </a:rPr>
              <a:t>4</a:t>
            </a:r>
            <a:endParaRPr lang="en-GB" altLang="en-US">
              <a:solidFill>
                <a:srgbClr val="00B050"/>
              </a:solidFill>
            </a:endParaRPr>
          </a:p>
        </p:txBody>
      </p:sp>
      <p:graphicFrame>
        <p:nvGraphicFramePr>
          <p:cNvPr id="15" name="Table 14"/>
          <p:cNvGraphicFramePr/>
          <p:nvPr/>
        </p:nvGraphicFramePr>
        <p:xfrm>
          <a:off x="1812290" y="402844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x1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x2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f(x1,x2)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0.899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0.584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b="1"/>
                        <a:t>0.9167</a:t>
                      </a:r>
                      <a:endParaRPr lang="en-GB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0.555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0.446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b="1"/>
                        <a:t>0.6343</a:t>
                      </a:r>
                      <a:endParaRPr lang="en-GB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0.478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0.225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b="1"/>
                        <a:t>0.419</a:t>
                      </a:r>
                      <a:endParaRPr lang="en-GB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0.368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0.842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b="1"/>
                        <a:t>0.8576</a:t>
                      </a:r>
                      <a:endParaRPr lang="en-GB" altLang="en-US" b="1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1812290" y="3161665"/>
            <a:ext cx="22136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clacul initial: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670040" y="1846580"/>
            <a:ext cx="3800475" cy="645160"/>
            <a:chOff x="10504" y="2908"/>
            <a:chExt cx="5985" cy="1016"/>
          </a:xfrm>
        </p:grpSpPr>
        <p:sp>
          <p:nvSpPr>
            <p:cNvPr id="5" name="Text Box 4"/>
            <p:cNvSpPr txBox="1"/>
            <p:nvPr/>
          </p:nvSpPr>
          <p:spPr>
            <a:xfrm>
              <a:off x="10504" y="2913"/>
              <a:ext cx="118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en-US" b="1">
                  <a:solidFill>
                    <a:srgbClr val="FF0000"/>
                  </a:solidFill>
                </a:rPr>
                <a:t>Min :</a:t>
              </a:r>
              <a:endParaRPr lang="en-GB" altLang="en-US" b="1">
                <a:solidFill>
                  <a:srgbClr val="FF0000"/>
                </a:solidFill>
              </a:endParaRPr>
            </a:p>
          </p:txBody>
        </p:sp>
        <p:graphicFrame>
          <p:nvGraphicFramePr>
            <p:cNvPr id="4" name="Object 3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1669" y="2908"/>
            <a:ext cx="4820" cy="10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" r:id="rId2" imgW="1485900" imgH="330200" progId="Equation.KSEE3">
                    <p:embed/>
                  </p:oleObj>
                </mc:Choice>
                <mc:Fallback>
                  <p:oleObj name="" r:id="rId2" imgW="1485900" imgH="330200" progId="Equation.KSEE3">
                    <p:embed/>
                    <p:pic>
                      <p:nvPicPr>
                        <p:cNvPr id="0" name="Picture 102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1669" y="2908"/>
                          <a:ext cx="4820" cy="10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6" name="Content Placeholder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380490" y="4329430"/>
            <a:ext cx="447040" cy="452755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170940" y="4734560"/>
            <a:ext cx="447040" cy="452755"/>
          </a:xfrm>
          <a:prstGeom prst="rect">
            <a:avLst/>
          </a:prstGeo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0490" y="5187315"/>
            <a:ext cx="389890" cy="394970"/>
          </a:xfrm>
          <a:prstGeom prst="rect">
            <a:avLst/>
          </a:prstGeom>
        </p:spPr>
      </p:pic>
      <p:pic>
        <p:nvPicPr>
          <p:cNvPr id="8" name="Content Placeholder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275715" y="5551170"/>
            <a:ext cx="447040" cy="452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1" grpId="0"/>
      <p:bldP spid="11" grpId="1"/>
      <p:bldP spid="3" grpId="0"/>
      <p:bldP spid="3" grpId="1"/>
      <p:bldP spid="16" grpId="0"/>
      <p:bldP spid="1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812290" y="1146175"/>
            <a:ext cx="36861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definir alpha beta et delta: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893570" y="1976120"/>
          <a:ext cx="853249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x1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x2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f(x1,x2)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0.899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0.584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0.9167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0.555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0.446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0.6343</a:t>
                      </a:r>
                      <a:endParaRPr lang="en-GB" altLang="en-US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0.478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0.225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0.419</a:t>
                      </a:r>
                      <a:endParaRPr lang="en-GB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0.368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0.842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rgbClr val="7030A0"/>
                          </a:solidFill>
                        </a:rPr>
                        <a:t>0.8576</a:t>
                      </a:r>
                      <a:endParaRPr lang="en-GB" altLang="en-US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35000" y="26822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solidFill>
                  <a:srgbClr val="FF0000"/>
                </a:solidFill>
              </a:rPr>
              <a:t>alpha </a:t>
            </a:r>
            <a:endParaRPr lang="en-GB" altLang="en-US">
              <a:solidFill>
                <a:srgbClr val="FF0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13080" y="3244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solidFill>
                  <a:srgbClr val="00B050"/>
                </a:solidFill>
              </a:rPr>
              <a:t>beta</a:t>
            </a:r>
            <a:endParaRPr lang="en-GB" altLang="en-US">
              <a:solidFill>
                <a:srgbClr val="00B05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13080" y="3881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solidFill>
                  <a:srgbClr val="7030A0"/>
                </a:solidFill>
              </a:rPr>
              <a:t>delta</a:t>
            </a:r>
            <a:endParaRPr lang="en-GB" altLang="en-US">
              <a:solidFill>
                <a:srgbClr val="7030A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1254760" y="2915920"/>
            <a:ext cx="609600" cy="345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102360" y="2936240"/>
            <a:ext cx="772160" cy="518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121410" y="3637280"/>
            <a:ext cx="732790" cy="462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812290" y="4249420"/>
            <a:ext cx="36861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iteration n = 1 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002280" y="4885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a = 2 * (1-t/T)</a:t>
            </a:r>
            <a:endParaRPr lang="en-GB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3002280" y="5186045"/>
            <a:ext cx="2150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a = 2 * (1- 1/5)</a:t>
            </a:r>
            <a:endParaRPr lang="en-GB" altLang="en-US"/>
          </a:p>
          <a:p>
            <a:r>
              <a:rPr lang="en-GB" altLang="en-US"/>
              <a:t>a = 1.6</a:t>
            </a:r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3002280" y="59080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A = (2 * a * r) - a </a:t>
            </a:r>
            <a:endParaRPr lang="en-GB" altLang="en-US"/>
          </a:p>
          <a:p>
            <a:r>
              <a:rPr lang="en-GB" altLang="en-US"/>
              <a:t>A = - 0.16  </a:t>
            </a:r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7147560" y="4704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r = rand() = 0.45</a:t>
            </a:r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1" grpId="0"/>
      <p:bldP spid="11" grpId="1"/>
      <p:bldP spid="6" grpId="0"/>
      <p:bldP spid="6" grpId="1"/>
      <p:bldP spid="7" grpId="0"/>
      <p:bldP spid="7" grpId="1"/>
      <p:bldP spid="8" grpId="0"/>
      <p:bldP spid="8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2279650" y="1360805"/>
            <a:ext cx="36861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iteration n = 1 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7788910" y="32772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étant donné que nous sommes dans l'itération </a:t>
            </a:r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1.1 , X(t) 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représente la position du </a:t>
            </a:r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premiere loup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 dans le tableau.</a:t>
            </a:r>
            <a:endParaRPr lang="en-GB" altLang="en-US"/>
          </a:p>
        </p:txBody>
      </p:sp>
      <p:sp>
        <p:nvSpPr>
          <p:cNvPr id="23" name="Text Box 22"/>
          <p:cNvSpPr txBox="1"/>
          <p:nvPr/>
        </p:nvSpPr>
        <p:spPr>
          <a:xfrm>
            <a:off x="1692910" y="3737610"/>
            <a:ext cx="7030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             = |0.9 * (</a:t>
            </a:r>
            <a:r>
              <a:rPr lang="en-GB" altLang="en-US">
                <a:sym typeface="+mn-ea"/>
              </a:rPr>
              <a:t>0.478</a:t>
            </a:r>
            <a:r>
              <a:rPr lang="en-GB" altLang="en-US"/>
              <a:t>,</a:t>
            </a:r>
            <a:r>
              <a:rPr lang="en-GB" altLang="en-US">
                <a:sym typeface="+mn-ea"/>
              </a:rPr>
              <a:t>0.225</a:t>
            </a:r>
            <a:r>
              <a:rPr lang="en-GB" altLang="en-US"/>
              <a:t>) - </a:t>
            </a:r>
            <a:r>
              <a:rPr lang="en-GB" altLang="en-US">
                <a:sym typeface="+mn-ea"/>
              </a:rPr>
              <a:t>(0.899,0.584)</a:t>
            </a:r>
            <a:r>
              <a:rPr lang="en-GB" altLang="en-US"/>
              <a:t>| </a:t>
            </a:r>
            <a:endParaRPr lang="en-GB" altLang="en-US"/>
          </a:p>
          <a:p>
            <a:r>
              <a:rPr lang="en-GB" altLang="en-US"/>
              <a:t>             = |(-0.4688, 0.3815)|</a:t>
            </a:r>
            <a:endParaRPr lang="en-GB" altLang="en-US"/>
          </a:p>
          <a:p>
            <a:r>
              <a:rPr lang="en-GB" altLang="en-US"/>
              <a:t>             = (0.4688, 0.3815)</a:t>
            </a:r>
            <a:endParaRPr lang="en-GB" altLang="en-US"/>
          </a:p>
        </p:txBody>
      </p:sp>
      <p:sp>
        <p:nvSpPr>
          <p:cNvPr id="24" name="Text Box 23"/>
          <p:cNvSpPr txBox="1"/>
          <p:nvPr/>
        </p:nvSpPr>
        <p:spPr>
          <a:xfrm>
            <a:off x="1692910" y="4770120"/>
            <a:ext cx="7030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             = |0.9 * (0.555, 0.446) - </a:t>
            </a:r>
            <a:r>
              <a:rPr lang="en-GB" altLang="en-US">
                <a:sym typeface="+mn-ea"/>
              </a:rPr>
              <a:t>(0.899,0.584)</a:t>
            </a:r>
            <a:r>
              <a:rPr lang="en-GB" altLang="en-US"/>
              <a:t>| </a:t>
            </a:r>
            <a:endParaRPr lang="en-GB" altLang="en-US"/>
          </a:p>
          <a:p>
            <a:r>
              <a:rPr lang="en-GB" altLang="en-US"/>
              <a:t>             = |(-0.3995, - 0.1826)|</a:t>
            </a:r>
            <a:endParaRPr lang="en-GB" altLang="en-US"/>
          </a:p>
          <a:p>
            <a:r>
              <a:rPr lang="en-GB" altLang="en-US"/>
              <a:t>             = (0.3995, 0.1826)</a:t>
            </a:r>
            <a:endParaRPr lang="en-GB" altLang="en-US"/>
          </a:p>
        </p:txBody>
      </p:sp>
      <p:sp>
        <p:nvSpPr>
          <p:cNvPr id="25" name="Text Box 24"/>
          <p:cNvSpPr txBox="1"/>
          <p:nvPr/>
        </p:nvSpPr>
        <p:spPr>
          <a:xfrm>
            <a:off x="1692910" y="5802630"/>
            <a:ext cx="7030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             = |0.9 * (0.368, 0.842) - </a:t>
            </a:r>
            <a:r>
              <a:rPr lang="en-GB" altLang="en-US">
                <a:sym typeface="+mn-ea"/>
              </a:rPr>
              <a:t>(0.899,0.584)</a:t>
            </a:r>
            <a:r>
              <a:rPr lang="en-GB" altLang="en-US"/>
              <a:t>| </a:t>
            </a:r>
            <a:endParaRPr lang="en-GB" altLang="en-US"/>
          </a:p>
          <a:p>
            <a:r>
              <a:rPr lang="en-GB" altLang="en-US"/>
              <a:t>             = |(-0.5678, 0.1738)|</a:t>
            </a:r>
            <a:endParaRPr lang="en-GB" altLang="en-US"/>
          </a:p>
          <a:p>
            <a:r>
              <a:rPr lang="en-GB" altLang="en-US"/>
              <a:t>             = (0.</a:t>
            </a:r>
            <a:r>
              <a:rPr lang="en-GB" altLang="en-US">
                <a:sym typeface="+mn-ea"/>
              </a:rPr>
              <a:t>5678</a:t>
            </a:r>
            <a:r>
              <a:rPr lang="en-GB" altLang="en-US"/>
              <a:t>, 0.</a:t>
            </a:r>
            <a:r>
              <a:rPr lang="en-GB" altLang="en-US">
                <a:sym typeface="+mn-ea"/>
              </a:rPr>
              <a:t>1738</a:t>
            </a:r>
            <a:r>
              <a:rPr lang="en-GB" altLang="en-US"/>
              <a:t>)</a:t>
            </a:r>
            <a:endParaRPr lang="en-GB" altLang="en-US"/>
          </a:p>
        </p:txBody>
      </p:sp>
      <p:graphicFrame>
        <p:nvGraphicFramePr>
          <p:cNvPr id="6" name="Object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32930" y="1133793"/>
          <a:ext cx="3550285" cy="1932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" r:id="rId2" imgW="1727200" imgH="939800" progId="Equation.KSEE3">
                  <p:embed/>
                </p:oleObj>
              </mc:Choice>
              <mc:Fallback>
                <p:oleObj name="" r:id="rId2" imgW="1727200" imgH="9398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32930" y="1133793"/>
                        <a:ext cx="3550285" cy="1932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84780" y="1829435"/>
          <a:ext cx="180276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" r:id="rId4" imgW="762000" imgH="723900" progId="Equation.KSEE3">
                  <p:embed/>
                </p:oleObj>
              </mc:Choice>
              <mc:Fallback>
                <p:oleObj name="" r:id="rId4" imgW="762000" imgH="723900" progId="Equation.KSEE3">
                  <p:embed/>
                  <p:pic>
                    <p:nvPicPr>
                      <p:cNvPr id="0" name="Picture 205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84780" y="1829435"/>
                        <a:ext cx="1802765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/>
          <p:nvPr/>
        </p:nvGraphicFramePr>
        <p:xfrm>
          <a:off x="1692910" y="4659630"/>
          <a:ext cx="818515" cy="45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" r:id="rId6" imgW="316865" imgH="254000" progId="Equation.KSEE3">
                  <p:embed/>
                </p:oleObj>
              </mc:Choice>
              <mc:Fallback>
                <p:oleObj name="" r:id="rId6" imgW="316865" imgH="254000" progId="Equation.KSEE3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92910" y="4659630"/>
                        <a:ext cx="818515" cy="456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/>
          <p:nvPr/>
        </p:nvGraphicFramePr>
        <p:xfrm>
          <a:off x="1765935" y="3737610"/>
          <a:ext cx="609600" cy="45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" r:id="rId8" imgW="368300" imgH="266700" progId="Equation.KSEE3">
                  <p:embed/>
                </p:oleObj>
              </mc:Choice>
              <mc:Fallback>
                <p:oleObj name="" r:id="rId8" imgW="368300" imgH="266700" progId="Equation.KSEE3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65935" y="3737610"/>
                        <a:ext cx="609600" cy="453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/>
          <p:nvPr/>
        </p:nvGraphicFramePr>
        <p:xfrm>
          <a:off x="1692910" y="5691505"/>
          <a:ext cx="715010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" r:id="rId10" imgW="342900" imgH="254000" progId="Equation.KSEE3">
                  <p:embed/>
                </p:oleObj>
              </mc:Choice>
              <mc:Fallback>
                <p:oleObj name="" r:id="rId10" imgW="342900" imgH="254000" progId="Equation.KSEE3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92910" y="5691505"/>
                        <a:ext cx="715010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7" grpId="0"/>
      <p:bldP spid="17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2279650" y="1360805"/>
            <a:ext cx="36861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iteration n = 1 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graphicFrame>
        <p:nvGraphicFramePr>
          <p:cNvPr id="3" name="Object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71195" y="1929130"/>
          <a:ext cx="5294630" cy="1947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2" imgW="2920365" imgH="1041400" progId="Equation.KSEE3">
                  <p:embed/>
                </p:oleObj>
              </mc:Choice>
              <mc:Fallback>
                <p:oleObj name="" r:id="rId2" imgW="2920365" imgH="10414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1195" y="1929130"/>
                        <a:ext cx="5294630" cy="1947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71195" y="4445000"/>
          <a:ext cx="5454650" cy="191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" imgW="2984500" imgH="1016000" progId="Equation.KSEE3">
                  <p:embed/>
                </p:oleObj>
              </mc:Choice>
              <mc:Fallback>
                <p:oleObj name="" r:id="rId4" imgW="2984500" imgH="10160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1195" y="4445000"/>
                        <a:ext cx="5454650" cy="1915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293485" y="1845945"/>
          <a:ext cx="5760720" cy="203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6" imgW="2971800" imgH="1016000" progId="Equation.KSEE3">
                  <p:embed/>
                </p:oleObj>
              </mc:Choice>
              <mc:Fallback>
                <p:oleObj name="" r:id="rId6" imgW="2971800" imgH="10160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93485" y="1845945"/>
                        <a:ext cx="5760720" cy="2030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314565" y="4227830"/>
          <a:ext cx="3423285" cy="204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8" imgW="1828800" imgH="1091565" progId="Equation.KSEE3">
                  <p:embed/>
                </p:oleObj>
              </mc:Choice>
              <mc:Fallback>
                <p:oleObj name="" r:id="rId8" imgW="1828800" imgH="1091565" progId="Equation.KSEE3">
                  <p:embed/>
                  <p:pic>
                    <p:nvPicPr>
                      <p:cNvPr id="0" name="Picture 307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14565" y="4227830"/>
                        <a:ext cx="3423285" cy="2043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7" grpId="0"/>
      <p:bldP spid="1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2279650" y="1360805"/>
            <a:ext cx="36861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iteration n = 1 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2833370" y="4485640"/>
          <a:ext cx="8532495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401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x1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x2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f(x1,x2)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trike="sngStrike">
                          <a:solidFill>
                            <a:srgbClr val="FF0000"/>
                          </a:solidFill>
                        </a:rPr>
                        <a:t>0.899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en-GB" altLang="en-US" sz="1800">
                          <a:solidFill>
                            <a:srgbClr val="FF0000"/>
                          </a:solidFill>
                          <a:sym typeface="+mn-ea"/>
                        </a:rPr>
                        <a:t>0.5436</a:t>
                      </a:r>
                      <a:endParaRPr lang="en-GB" altLang="en-US" sz="1800" strike="sngStrike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trike="sngStrike">
                          <a:solidFill>
                            <a:srgbClr val="FF0000"/>
                          </a:solidFill>
                        </a:rPr>
                        <a:t>0.584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en-GB" altLang="en-US" sz="1800">
                          <a:solidFill>
                            <a:srgbClr val="FF0000"/>
                          </a:solidFill>
                          <a:sym typeface="+mn-ea"/>
                        </a:rPr>
                        <a:t>0.543333</a:t>
                      </a:r>
                      <a:endParaRPr lang="en-GB" altLang="en-US" sz="1800" strike="sngStrike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trike="sngStrike">
                          <a:solidFill>
                            <a:srgbClr val="FF0000"/>
                          </a:solidFill>
                        </a:rPr>
                        <a:t>0.9167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GB" altLang="en-US" sz="1800">
                          <a:solidFill>
                            <a:srgbClr val="FF0000"/>
                          </a:solidFill>
                          <a:sym typeface="+mn-ea"/>
                        </a:rPr>
                        <a:t>0.7064</a:t>
                      </a:r>
                      <a:endParaRPr lang="en-GB" altLang="en-US" sz="1800" strike="sngStrike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0.555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0.446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0.6343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0.478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0.225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0.419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0.368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0.842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0.8576</a:t>
                      </a: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9171305" y="3825240"/>
            <a:ext cx="21945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GB" altLang="en-US" sz="2400">
                <a:solidFill>
                  <a:srgbClr val="FF0000"/>
                </a:solidFill>
                <a:sym typeface="+mn-ea"/>
              </a:rPr>
              <a:t>0.7064 &lt; 0.9167 </a:t>
            </a:r>
            <a:endParaRPr lang="en-GB" alt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567815" y="52908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alpha </a:t>
            </a:r>
            <a:endParaRPr lang="en-GB" altLang="en-US"/>
          </a:p>
        </p:txBody>
      </p:sp>
      <p:sp>
        <p:nvSpPr>
          <p:cNvPr id="22" name="Text Box 21"/>
          <p:cNvSpPr txBox="1"/>
          <p:nvPr/>
        </p:nvSpPr>
        <p:spPr>
          <a:xfrm>
            <a:off x="1445895" y="5853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beta</a:t>
            </a:r>
            <a:endParaRPr lang="en-GB" altLang="en-US"/>
          </a:p>
        </p:txBody>
      </p:sp>
      <p:sp>
        <p:nvSpPr>
          <p:cNvPr id="23" name="Text Box 22"/>
          <p:cNvSpPr txBox="1"/>
          <p:nvPr/>
        </p:nvSpPr>
        <p:spPr>
          <a:xfrm>
            <a:off x="1445895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/>
              <a:t>delta</a:t>
            </a:r>
            <a:endParaRPr lang="en-GB" altLang="en-US"/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2187575" y="5524500"/>
            <a:ext cx="609600" cy="345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035175" y="5544820"/>
            <a:ext cx="772160" cy="518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2054225" y="6245860"/>
            <a:ext cx="732790" cy="462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Text Box 26"/>
          <p:cNvSpPr txBox="1"/>
          <p:nvPr/>
        </p:nvSpPr>
        <p:spPr>
          <a:xfrm>
            <a:off x="262255" y="4226560"/>
            <a:ext cx="19253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>
                <a:solidFill>
                  <a:srgbClr val="FF0000"/>
                </a:solidFill>
              </a:rPr>
              <a:t>on ne change pas les alpha beta et delta </a:t>
            </a:r>
            <a:endParaRPr lang="en-GB" altLang="en-US">
              <a:solidFill>
                <a:srgbClr val="FF0000"/>
              </a:solidFill>
            </a:endParaRPr>
          </a:p>
        </p:txBody>
      </p:sp>
      <p:graphicFrame>
        <p:nvGraphicFramePr>
          <p:cNvPr id="4" name="Object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31815" y="1244600"/>
          <a:ext cx="42608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" r:id="rId2" imgW="1714500" imgH="215900" progId="Equation.KSEE3">
                  <p:embed/>
                </p:oleObj>
              </mc:Choice>
              <mc:Fallback>
                <p:oleObj name="" r:id="rId2" imgW="1714500" imgH="215900" progId="Equation.KSEE3">
                  <p:embed/>
                  <p:pic>
                    <p:nvPicPr>
                      <p:cNvPr id="0" name="Picture 40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1815" y="1244600"/>
                        <a:ext cx="4260850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2260" y="2080895"/>
          <a:ext cx="3423285" cy="45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" r:id="rId4" imgW="1828800" imgH="241300" progId="Equation.KSEE3">
                  <p:embed/>
                </p:oleObj>
              </mc:Choice>
              <mc:Fallback>
                <p:oleObj name="" r:id="rId4" imgW="1828800" imgH="241300" progId="Equation.KSEE3">
                  <p:embed/>
                  <p:pic>
                    <p:nvPicPr>
                      <p:cNvPr id="0" name="Picture 307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2260" y="2080895"/>
                        <a:ext cx="3423285" cy="452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254500" y="2617470"/>
          <a:ext cx="5690870" cy="1592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" r:id="rId6" imgW="2451100" imgH="685800" progId="Equation.KSEE3">
                  <p:embed/>
                </p:oleObj>
              </mc:Choice>
              <mc:Fallback>
                <p:oleObj name="" r:id="rId6" imgW="2451100" imgH="685800" progId="Equation.KSEE3">
                  <p:embed/>
                  <p:pic>
                    <p:nvPicPr>
                      <p:cNvPr id="0" name="Picture 40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54500" y="2617470"/>
                        <a:ext cx="5690870" cy="1592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2493010" y="2080895"/>
            <a:ext cx="1242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>
                <a:latin typeface="Bahnschrift SemiLight" panose="020B0502040204020203" charset="0"/>
                <a:cs typeface="Bahnschrift SemiLight" panose="020B0502040204020203" charset="0"/>
              </a:rPr>
              <a:t>on a :</a:t>
            </a:r>
            <a:endParaRPr lang="en-GB" altLang="en-US"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620010" y="2892425"/>
            <a:ext cx="1242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>
                <a:latin typeface="Bahnschrift SemiLight" panose="020B0502040204020203" charset="0"/>
                <a:cs typeface="Bahnschrift SemiLight" panose="020B0502040204020203" charset="0"/>
              </a:rPr>
              <a:t>alors :</a:t>
            </a:r>
            <a:endParaRPr lang="en-GB" altLang="en-US"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7535545" y="3825240"/>
            <a:ext cx="1788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>
                <a:latin typeface="Bahnschrift SemiLight" panose="020B0502040204020203" charset="0"/>
                <a:cs typeface="Bahnschrift SemiLight" panose="020B0502040204020203" charset="0"/>
              </a:rPr>
              <a:t>puisque:</a:t>
            </a:r>
            <a:endParaRPr lang="en-GB" altLang="en-US" sz="24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7" grpId="0"/>
      <p:bldP spid="17" grpId="1"/>
      <p:bldP spid="14" grpId="0"/>
      <p:bldP spid="14" grpId="1"/>
      <p:bldP spid="16" grpId="0"/>
      <p:bldP spid="16" grpId="1"/>
      <p:bldP spid="22" grpId="0"/>
      <p:bldP spid="22" grpId="1"/>
      <p:bldP spid="23" grpId="0"/>
      <p:bldP spid="23" grpId="1"/>
      <p:bldP spid="27" grpId="0"/>
      <p:bldP spid="27" grpId="1"/>
      <p:bldP spid="11" grpId="0"/>
      <p:bldP spid="11" grpId="1"/>
      <p:bldP spid="15" grpId="0"/>
      <p:bldP spid="15" grpId="1"/>
      <p:bldP spid="19" grpId="0"/>
      <p:bldP spid="1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12570" y="517208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Modèle </a:t>
            </a:r>
            <a:r>
              <a:rPr lang="fr-FR" sz="2800" b="1" dirty="0">
                <a:solidFill>
                  <a:srgbClr val="FF0000"/>
                </a:solidFill>
                <a:effectLst/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mathématique</a:t>
            </a:r>
            <a:endParaRPr lang="fr-FR" altLang="en-US" sz="2800" b="1" dirty="0">
              <a:solidFill>
                <a:srgbClr val="FF0000"/>
              </a:solidFill>
              <a:effectLst/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pic>
        <p:nvPicPr>
          <p:cNvPr id="13" name="Picture 12" descr="parabolic_22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95580"/>
            <a:ext cx="1165225" cy="116522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2279650" y="1360805"/>
            <a:ext cx="36861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000">
                <a:solidFill>
                  <a:srgbClr val="00B05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iteration n = 1 :</a:t>
            </a:r>
            <a:endParaRPr lang="en-GB" altLang="en-US" sz="2000">
              <a:solidFill>
                <a:srgbClr val="00B05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53665" y="2116455"/>
            <a:ext cx="5922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étant donné que nous sommes dans l'itération </a:t>
            </a:r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</a:rPr>
              <a:t>1.2, X(t) 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représente la position du </a:t>
            </a:r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</a:rPr>
              <a:t>deuxième loup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 dans le tableau.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048000" y="329501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À la fin de la première itération, le résultat final est un tableau mis à jour...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82365" y="419671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Ensuite, nous spécifions qui est l'alpha, le bêta et le delta...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67555" y="5098415"/>
            <a:ext cx="66535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À la fin de l'itération 5, nous retournons la position de l'alpha (correspondant à la meilleure solution au milieu).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7" grpId="0"/>
      <p:bldP spid="17" grpId="1"/>
      <p:bldP spid="4" grpId="0"/>
      <p:bldP spid="4" grpId="1"/>
      <p:bldP spid="3" grpId="0"/>
      <p:bldP spid="3" grpId="1"/>
      <p:bldP spid="5" grpId="0"/>
      <p:bldP spid="5" grpId="1"/>
      <p:bldP spid="8" grpId="0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EEEEE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pic>
        <p:nvPicPr>
          <p:cNvPr id="14" name="Content Placeholder 10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7390" y="1252855"/>
            <a:ext cx="4218305" cy="435165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5975985" y="2829560"/>
            <a:ext cx="50698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None/>
            </a:pPr>
            <a:r>
              <a:rPr 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Résoudre le TSP en utilisant GWO</a:t>
            </a:r>
            <a:endParaRPr lang="fr-FR" sz="3600" b="1" dirty="0">
              <a:solidFill>
                <a:srgbClr val="273239"/>
              </a:solidFill>
              <a:effectLst/>
              <a:latin typeface="Bahnschrift SemiBold SemiConden" panose="020B0502040204020203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graphicFrame>
        <p:nvGraphicFramePr>
          <p:cNvPr id="9" name="Table 8"/>
          <p:cNvGraphicFramePr/>
          <p:nvPr/>
        </p:nvGraphicFramePr>
        <p:xfrm>
          <a:off x="6290945" y="2019300"/>
          <a:ext cx="5902325" cy="3199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65"/>
                <a:gridCol w="1180465"/>
                <a:gridCol w="1180465"/>
                <a:gridCol w="1180465"/>
                <a:gridCol w="1180465"/>
              </a:tblGrid>
              <a:tr h="842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Villes</a:t>
                      </a:r>
                      <a:endParaRPr lang="en-GB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Casa</a:t>
                      </a:r>
                      <a:endParaRPr lang="en-GB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 sz="1700"/>
                        <a:t>Marrakech</a:t>
                      </a:r>
                      <a:endParaRPr lang="en-GB" altLang="en-US" sz="1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Rabat</a:t>
                      </a:r>
                      <a:endParaRPr lang="en-GB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Fes</a:t>
                      </a:r>
                      <a:endParaRPr lang="en-GB" altLang="en-US"/>
                    </a:p>
                  </a:txBody>
                  <a:tcPr anchor="ctr"/>
                </a:tc>
              </a:tr>
              <a:tr h="5226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 sz="1800">
                          <a:sym typeface="+mn-ea"/>
                        </a:rPr>
                        <a:t>Casa</a:t>
                      </a:r>
                      <a:endParaRPr lang="en-GB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240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93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303 km</a:t>
                      </a:r>
                      <a:endParaRPr lang="en-GB" altLang="en-US"/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 sz="1800">
                          <a:sym typeface="+mn-ea"/>
                        </a:rPr>
                        <a:t>Marrakech</a:t>
                      </a:r>
                      <a:endParaRPr lang="en-GB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240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327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 536 km</a:t>
                      </a:r>
                      <a:endParaRPr lang="en-GB" altLang="en-US"/>
                    </a:p>
                  </a:txBody>
                  <a:tcPr/>
                </a:tc>
              </a:tr>
              <a:tr h="590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Rabat</a:t>
                      </a:r>
                      <a:endParaRPr lang="en-GB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 sz="1800">
                          <a:sym typeface="+mn-ea"/>
                        </a:rPr>
                        <a:t>93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327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204 km</a:t>
                      </a:r>
                      <a:endParaRPr lang="en-GB" altLang="en-US"/>
                    </a:p>
                  </a:txBody>
                  <a:tcPr/>
                </a:tc>
              </a:tr>
              <a:tr h="6534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Fes</a:t>
                      </a:r>
                      <a:endParaRPr lang="en-GB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303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 536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204 km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1920875" y="1245870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11" name="Oval 10"/>
          <p:cNvSpPr/>
          <p:nvPr/>
        </p:nvSpPr>
        <p:spPr>
          <a:xfrm>
            <a:off x="3114675" y="1245870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12" name="Oval 11"/>
          <p:cNvSpPr/>
          <p:nvPr/>
        </p:nvSpPr>
        <p:spPr>
          <a:xfrm>
            <a:off x="1394460" y="1953895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13" name="Oval 12"/>
          <p:cNvSpPr/>
          <p:nvPr/>
        </p:nvSpPr>
        <p:spPr>
          <a:xfrm>
            <a:off x="1180465" y="2983865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6193790" y="270193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sym typeface="+mn-ea"/>
              </a:rPr>
              <a:t>Introduction au Problème </a:t>
            </a:r>
            <a:endParaRPr lang="fr-FR" sz="2800" b="1" dirty="0">
              <a:solidFill>
                <a:srgbClr val="FF0000"/>
              </a:solidFill>
              <a:effectLst/>
              <a:sym typeface="+mn-ea"/>
            </a:endParaRPr>
          </a:p>
          <a:p>
            <a:pPr indent="0" algn="ctr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sym typeface="+mn-ea"/>
              </a:rPr>
              <a:t>du Voyageur de Commerce (TSP) </a:t>
            </a:r>
            <a:endParaRPr lang="fr-FR" sz="2800" b="1" dirty="0">
              <a:solidFill>
                <a:srgbClr val="FF0000"/>
              </a:solidFill>
              <a:effectLst/>
              <a:sym typeface="+mn-ea"/>
            </a:endParaRPr>
          </a:p>
          <a:p>
            <a:pPr indent="0" algn="ctr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sym typeface="+mn-ea"/>
              </a:rPr>
              <a:t>avec 4 villes :</a:t>
            </a:r>
            <a:endParaRPr lang="fr-FR" sz="2800" b="1" dirty="0">
              <a:solidFill>
                <a:srgbClr val="FF0000"/>
              </a:soli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1" grpId="0" bldLvl="0" animBg="1"/>
      <p:bldP spid="11" grpId="1" animBg="1"/>
      <p:bldP spid="12" grpId="0" bldLvl="0" animBg="1"/>
      <p:bldP spid="12" grpId="1" animBg="1"/>
      <p:bldP spid="13" grpId="0" bldLvl="0" animBg="1"/>
      <p:bldP spid="13" grpId="1" animBg="1"/>
      <p:bldP spid="15" grpId="0"/>
      <p:bldP spid="1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280150" y="14859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Maintenant, calculons la distance totale pour chaque chemin potentiel :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07150" y="1129030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Casablanca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Rabat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1226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(240 + 327 + 204 + 455)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575435" y="2073275"/>
            <a:ext cx="239395" cy="142621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586230" y="1774190"/>
            <a:ext cx="663575" cy="17418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239010" y="1730375"/>
            <a:ext cx="1176020" cy="2222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836420" y="1741170"/>
            <a:ext cx="1545590" cy="31623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280150" y="14859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Maintenant, calculons la distance totale pour chaque chemin potentiel :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07150" y="1129030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Casablanca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 -&gt; 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Rabat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1310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(93 + 327 + 200 + 690)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815465" y="1746885"/>
            <a:ext cx="457200" cy="315595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576070" y="1752600"/>
            <a:ext cx="675005" cy="1752600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553845" y="1752600"/>
            <a:ext cx="1840230" cy="1784985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815465" y="1763395"/>
            <a:ext cx="1556385" cy="304800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280150" y="14859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Maintenant, calculons la distance totale pour chaque chemin potentiel :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07150" y="1129030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Casablanca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Rabat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1073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(303 + 90 + 204 + 476)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804670" y="1736090"/>
            <a:ext cx="1610995" cy="32639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251075" y="1752600"/>
            <a:ext cx="1143000" cy="10795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565275" y="1730375"/>
            <a:ext cx="696595" cy="178562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565275" y="2078990"/>
            <a:ext cx="239395" cy="142621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280150" y="14859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Maintenant, calculons la distance totale pour chaque chemin potentiel :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07150" y="1129030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Fès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 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Rabat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864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(536 + 180 + 93 + 55)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565275" y="1752600"/>
            <a:ext cx="1828800" cy="1774190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565275" y="2078990"/>
            <a:ext cx="250190" cy="1426210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826260" y="1741170"/>
            <a:ext cx="435610" cy="327025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261870" y="1741170"/>
            <a:ext cx="1132205" cy="11430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280150" y="148590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Voici tous les itinéraires possibles avec leurs distances correspondantes.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07150" y="1129030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Fès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 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Rabat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864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(536 + 180 + 93 + 55)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565275" y="1752600"/>
            <a:ext cx="1828800" cy="1774190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565275" y="2078990"/>
            <a:ext cx="250190" cy="1426210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826260" y="1741170"/>
            <a:ext cx="435610" cy="327025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261870" y="1741170"/>
            <a:ext cx="1132205" cy="11430"/>
          </a:xfrm>
          <a:prstGeom prst="straightConnector1">
            <a:avLst/>
          </a:prstGeom>
          <a:ln>
            <a:solidFill>
              <a:srgbClr val="00B0F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804670" y="1736090"/>
            <a:ext cx="1610995" cy="32639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251075" y="1752600"/>
            <a:ext cx="1143000" cy="10795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565275" y="1730375"/>
            <a:ext cx="696595" cy="178562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565275" y="2078990"/>
            <a:ext cx="239395" cy="142621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815465" y="1746885"/>
            <a:ext cx="457200" cy="315595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576070" y="1752600"/>
            <a:ext cx="675005" cy="1752600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553845" y="1752600"/>
            <a:ext cx="1840230" cy="1784985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815465" y="1763395"/>
            <a:ext cx="1556385" cy="304800"/>
          </a:xfrm>
          <a:prstGeom prst="straightConnector1">
            <a:avLst/>
          </a:prstGeom>
          <a:ln>
            <a:solidFill>
              <a:srgbClr val="7030A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575435" y="2073275"/>
            <a:ext cx="239395" cy="142621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1586230" y="1774190"/>
            <a:ext cx="663575" cy="17418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239010" y="1730375"/>
            <a:ext cx="1176020" cy="2222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36420" y="1741170"/>
            <a:ext cx="1545590" cy="31623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6407150" y="2263775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Casablanca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Rabat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1226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(240 + 327 + 204 + 455)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6407150" y="3398520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Casablanca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Rabat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1073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(303 + 90 + 204 + 476)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407150" y="4533265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Casablanca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 -&gt; 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Rabat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1310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(93 + 327 + 200 + 690)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6407150" y="6005195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ville n </a:t>
            </a:r>
            <a:r>
              <a:rPr lang="en-GB" altLang="en-US" sz="1200">
                <a:solidFill>
                  <a:srgbClr val="0070C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 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ville n-1 </a:t>
            </a:r>
            <a:r>
              <a:rPr lang="en-GB" altLang="en-US" sz="1200">
                <a:solidFill>
                  <a:srgbClr val="0070C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ville n-2 </a:t>
            </a:r>
            <a:r>
              <a:rPr lang="en-GB" altLang="en-US" sz="1200">
                <a:solidFill>
                  <a:srgbClr val="0070C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ville n-3 </a:t>
            </a:r>
            <a:r>
              <a:rPr lang="en-GB" altLang="en-US" sz="1200">
                <a:solidFill>
                  <a:srgbClr val="0070C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ville n: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0070C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x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(a + b + c + d)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7209790" y="53308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2800" b="1"/>
              <a:t>...</a:t>
            </a:r>
            <a:endParaRPr lang="en-GB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407150" y="148590"/>
            <a:ext cx="57765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La prochaine étape dans le Problème du Voyageur de Commerce (TSP) consiste à choisir le trajet le plus court parmi toutes les possibilités.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07150" y="3960495"/>
            <a:ext cx="5669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Fès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 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Marrakech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Casablanca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Rabat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-&gt;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Fès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Distance totale :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864 km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(536 + 180 + 93 + 55)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407150" y="2279650"/>
            <a:ext cx="56692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864 km &lt; ... &lt;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</a:t>
            </a:r>
            <a:r>
              <a:rPr lang="en-GB" altLang="en-US" sz="1200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1073 km &lt; ... &lt; </a:t>
            </a:r>
            <a:r>
              <a:rPr lang="en-GB" altLang="en-US" sz="1200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1226 km &lt; </a:t>
            </a:r>
            <a:r>
              <a:rPr lang="en-GB" altLang="en-US" sz="1200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1310 km &lt; ..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6407150" y="3070860"/>
            <a:ext cx="56692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donc, le trajet </a:t>
            </a:r>
            <a:r>
              <a:rPr lang="en-GB" altLang="en-US" sz="1200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</a:rPr>
              <a:t>le plus court</a:t>
            </a:r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 parmi toutes les possibilités est: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6599555" y="1652270"/>
            <a:ext cx="56692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 sz="1200">
                <a:latin typeface="Cascadia Code SemiBold" panose="020B0609020000020004" charset="0"/>
                <a:cs typeface="Cascadia Code SemiBold" panose="020B0609020000020004" charset="0"/>
              </a:rPr>
              <a:t>une petite comparaison :</a:t>
            </a:r>
            <a:endParaRPr lang="en-GB" altLang="en-US" sz="12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  <p:bldP spid="27" grpId="0"/>
      <p:bldP spid="27" grpId="1"/>
      <p:bldP spid="29" grpId="0"/>
      <p:bldP spid="29" grpId="1"/>
      <p:bldP spid="32" grpId="0"/>
      <p:bldP spid="3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986145" y="141288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L'application de l'algorithme 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du Loup Gris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1166475" y="0"/>
            <a:ext cx="915670" cy="9277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400800" y="1353820"/>
            <a:ext cx="2656205" cy="47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Nombre de Loups :</a:t>
            </a:r>
            <a:endParaRPr lang="en-GB" altLang="en-US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527800" y="2029460"/>
            <a:ext cx="5300980" cy="1526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chemeClr val="tx1"/>
                </a:solidFill>
                <a:latin typeface="Bahnschrift SemiLight" panose="020B0502040204020203" charset="0"/>
                <a:cs typeface="Bahnschrift SemiLight" panose="020B0502040204020203" charset="0"/>
              </a:rPr>
              <a:t>Pour cet exemple, choisissons</a:t>
            </a:r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</a:rPr>
              <a:t> 5 loups</a:t>
            </a:r>
            <a:r>
              <a:rPr lang="en-GB" altLang="en-US">
                <a:solidFill>
                  <a:schemeClr val="tx1"/>
                </a:solidFill>
                <a:latin typeface="Bahnschrift SemiLight" panose="020B0502040204020203" charset="0"/>
                <a:cs typeface="Bahnschrift SemiLight" panose="020B0502040204020203" charset="0"/>
              </a:rPr>
              <a:t> dans la meute.</a:t>
            </a:r>
            <a:endParaRPr lang="en-GB" altLang="en-US">
              <a:solidFill>
                <a:schemeClr val="tx1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GB" altLang="en-US">
              <a:solidFill>
                <a:schemeClr val="tx1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  <a:p>
            <a:r>
              <a:rPr lang="en-GB" altLang="en-US">
                <a:solidFill>
                  <a:schemeClr val="tx1"/>
                </a:solidFill>
                <a:latin typeface="Bahnschrift SemiLight" panose="020B0502040204020203" charset="0"/>
                <a:cs typeface="Bahnschrift SemiLight" panose="020B0502040204020203" charset="0"/>
              </a:rPr>
              <a:t>Chaque </a:t>
            </a:r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</a:rPr>
              <a:t>loup </a:t>
            </a:r>
            <a:r>
              <a:rPr lang="en-GB" altLang="en-US">
                <a:solidFill>
                  <a:schemeClr val="tx1"/>
                </a:solidFill>
                <a:latin typeface="Bahnschrift SemiLight" panose="020B0502040204020203" charset="0"/>
                <a:cs typeface="Bahnschrift SemiLight" panose="020B0502040204020203" charset="0"/>
              </a:rPr>
              <a:t>représente une </a:t>
            </a:r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</a:rPr>
              <a:t>solution potentielle</a:t>
            </a:r>
            <a:r>
              <a:rPr lang="en-GB" altLang="en-US">
                <a:solidFill>
                  <a:schemeClr val="tx1"/>
                </a:solidFill>
                <a:latin typeface="Bahnschrift SemiLight" panose="020B0502040204020203" charset="0"/>
                <a:cs typeface="Bahnschrift SemiLight" panose="020B0502040204020203" charset="0"/>
              </a:rPr>
              <a:t> au Problème du Voyageur de Commerce (TSP).</a:t>
            </a:r>
            <a:endParaRPr lang="en-GB" altLang="en-US">
              <a:solidFill>
                <a:schemeClr val="tx1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solidFill>
                <a:schemeClr val="tx1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solidFill>
                <a:schemeClr val="tx1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solidFill>
                <a:schemeClr val="tx1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solidFill>
                <a:schemeClr val="tx1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159875" y="3969385"/>
            <a:ext cx="915670" cy="927100"/>
            <a:chOff x="16688" y="5101"/>
            <a:chExt cx="1442" cy="1460"/>
          </a:xfrm>
        </p:grpSpPr>
        <p:pic>
          <p:nvPicPr>
            <p:cNvPr id="9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6688" y="5101"/>
              <a:ext cx="1442" cy="1461"/>
            </a:xfrm>
            <a:prstGeom prst="rect">
              <a:avLst/>
            </a:prstGeom>
          </p:spPr>
        </p:pic>
        <p:sp>
          <p:nvSpPr>
            <p:cNvPr id="15" name="Rectangles 14"/>
            <p:cNvSpPr/>
            <p:nvPr/>
          </p:nvSpPr>
          <p:spPr>
            <a:xfrm>
              <a:off x="16765" y="5768"/>
              <a:ext cx="891" cy="32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996045" y="5095240"/>
            <a:ext cx="915670" cy="927100"/>
            <a:chOff x="16430" y="6874"/>
            <a:chExt cx="1442" cy="1460"/>
          </a:xfrm>
        </p:grpSpPr>
        <p:pic>
          <p:nvPicPr>
            <p:cNvPr id="11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760000" flipH="1">
              <a:off x="16430" y="6874"/>
              <a:ext cx="1442" cy="1461"/>
            </a:xfrm>
            <a:prstGeom prst="rect">
              <a:avLst/>
            </a:prstGeom>
          </p:spPr>
        </p:pic>
        <p:sp>
          <p:nvSpPr>
            <p:cNvPr id="17" name="Rectangles 16"/>
            <p:cNvSpPr/>
            <p:nvPr/>
          </p:nvSpPr>
          <p:spPr>
            <a:xfrm>
              <a:off x="16614" y="7546"/>
              <a:ext cx="891" cy="32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839325" y="4699635"/>
            <a:ext cx="915670" cy="927100"/>
            <a:chOff x="17758" y="6251"/>
            <a:chExt cx="1442" cy="1460"/>
          </a:xfrm>
        </p:grpSpPr>
        <p:pic>
          <p:nvPicPr>
            <p:cNvPr id="13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7758" y="6251"/>
              <a:ext cx="1442" cy="1461"/>
            </a:xfrm>
            <a:prstGeom prst="rect">
              <a:avLst/>
            </a:prstGeom>
          </p:spPr>
        </p:pic>
        <p:sp>
          <p:nvSpPr>
            <p:cNvPr id="18" name="Rectangles 17"/>
            <p:cNvSpPr/>
            <p:nvPr/>
          </p:nvSpPr>
          <p:spPr>
            <a:xfrm>
              <a:off x="17758" y="6996"/>
              <a:ext cx="891" cy="32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sp>
        <p:nvSpPr>
          <p:cNvPr id="24" name="Content Placeholder 2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2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1920875" y="1245870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28" name="Oval 27"/>
          <p:cNvSpPr/>
          <p:nvPr/>
        </p:nvSpPr>
        <p:spPr>
          <a:xfrm>
            <a:off x="3114675" y="1245870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0" name="Oval 29"/>
          <p:cNvSpPr/>
          <p:nvPr/>
        </p:nvSpPr>
        <p:spPr>
          <a:xfrm>
            <a:off x="1394460" y="1953895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1" name="Oval 30"/>
          <p:cNvSpPr/>
          <p:nvPr/>
        </p:nvSpPr>
        <p:spPr>
          <a:xfrm>
            <a:off x="1180465" y="2983865"/>
            <a:ext cx="740410" cy="7080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grpSp>
        <p:nvGrpSpPr>
          <p:cNvPr id="33" name="Group 32"/>
          <p:cNvGrpSpPr/>
          <p:nvPr/>
        </p:nvGrpSpPr>
        <p:grpSpPr>
          <a:xfrm rot="480000">
            <a:off x="7974330" y="5182235"/>
            <a:ext cx="952500" cy="965200"/>
            <a:chOff x="14860" y="5042"/>
            <a:chExt cx="1500" cy="1520"/>
          </a:xfrm>
        </p:grpSpPr>
        <p:pic>
          <p:nvPicPr>
            <p:cNvPr id="34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860" y="5042"/>
              <a:ext cx="1500" cy="1520"/>
            </a:xfrm>
            <a:prstGeom prst="rect">
              <a:avLst/>
            </a:prstGeom>
          </p:spPr>
        </p:pic>
        <p:sp>
          <p:nvSpPr>
            <p:cNvPr id="35" name="Rectangles 34"/>
            <p:cNvSpPr/>
            <p:nvPr/>
          </p:nvSpPr>
          <p:spPr>
            <a:xfrm>
              <a:off x="15425" y="5768"/>
              <a:ext cx="891" cy="32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816850" y="4077970"/>
            <a:ext cx="1052830" cy="1066800"/>
            <a:chOff x="14482" y="6621"/>
            <a:chExt cx="1658" cy="1680"/>
          </a:xfrm>
        </p:grpSpPr>
        <p:pic>
          <p:nvPicPr>
            <p:cNvPr id="37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">
              <a:off x="14482" y="6621"/>
              <a:ext cx="1659" cy="1681"/>
            </a:xfrm>
            <a:prstGeom prst="rect">
              <a:avLst/>
            </a:prstGeom>
          </p:spPr>
        </p:pic>
        <p:sp>
          <p:nvSpPr>
            <p:cNvPr id="38" name="Rectangles 37"/>
            <p:cNvSpPr/>
            <p:nvPr/>
          </p:nvSpPr>
          <p:spPr>
            <a:xfrm>
              <a:off x="15164" y="7546"/>
              <a:ext cx="891" cy="32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7" grpId="0"/>
      <p:bldP spid="7" grpId="1"/>
      <p:bldP spid="8" grpId="0"/>
      <p:bldP spid="8" grpId="1"/>
      <p:bldP spid="26" grpId="0" bldLvl="0" animBg="1"/>
      <p:bldP spid="26" grpId="1" animBg="1"/>
      <p:bldP spid="28" grpId="0" bldLvl="0" animBg="1"/>
      <p:bldP spid="28" grpId="1" animBg="1"/>
      <p:bldP spid="30" grpId="0" bldLvl="0" animBg="1"/>
      <p:bldP spid="30" grpId="1" animBg="1"/>
      <p:bldP spid="31" grpId="0" bldLvl="0" animBg="1"/>
      <p:bldP spid="3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986145" y="141288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L'application de l'algorithme 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du Loup Gris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687195" y="2237105"/>
            <a:ext cx="3482340" cy="35280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400800" y="1353820"/>
            <a:ext cx="3754755" cy="47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L’initialisation :</a:t>
            </a:r>
            <a:endParaRPr lang="en-GB" altLang="en-US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pic>
        <p:nvPicPr>
          <p:cNvPr id="2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graphicFrame>
        <p:nvGraphicFramePr>
          <p:cNvPr id="10" name="Table 9"/>
          <p:cNvGraphicFramePr/>
          <p:nvPr/>
        </p:nvGraphicFramePr>
        <p:xfrm>
          <a:off x="6276975" y="2392680"/>
          <a:ext cx="5915025" cy="3084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05"/>
                <a:gridCol w="1183005"/>
                <a:gridCol w="1183005"/>
                <a:gridCol w="1183005"/>
                <a:gridCol w="1183005"/>
              </a:tblGrid>
              <a:tr h="1028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1800">
                          <a:latin typeface="Bahnschrift SemiLight" panose="020B0502040204020203" charset="0"/>
                          <a:cs typeface="Bahnschrift SemiLight" panose="020B0502040204020203" charset="0"/>
                          <a:sym typeface="+mn-ea"/>
                        </a:rPr>
                        <a:t>Loup </a:t>
                      </a: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1800">
                          <a:latin typeface="Bahnschrift SemiLight" panose="020B0502040204020203" charset="0"/>
                          <a:cs typeface="Bahnschrift SemiLight" panose="020B0502040204020203" charset="0"/>
                          <a:sym typeface="+mn-ea"/>
                        </a:rPr>
                        <a:t>Loup </a:t>
                      </a:r>
                      <a:r>
                        <a:rPr lang="en-GB" altLang="en-US"/>
                        <a:t>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1800">
                          <a:latin typeface="Bahnschrift SemiLight" panose="020B0502040204020203" charset="0"/>
                          <a:cs typeface="Bahnschrift SemiLight" panose="020B0502040204020203" charset="0"/>
                          <a:sym typeface="+mn-ea"/>
                        </a:rPr>
                        <a:t>Loup </a:t>
                      </a:r>
                      <a:r>
                        <a:rPr lang="en-GB" altLang="en-US"/>
                        <a:t>3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1800">
                          <a:latin typeface="Bahnschrift SemiLight" panose="020B0502040204020203" charset="0"/>
                          <a:cs typeface="Bahnschrift SemiLight" panose="020B0502040204020203" charset="0"/>
                          <a:sym typeface="+mn-ea"/>
                        </a:rPr>
                        <a:t>Loup </a:t>
                      </a:r>
                      <a:r>
                        <a:rPr lang="en-GB" altLang="en-US"/>
                        <a:t>4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sz="1800">
                          <a:latin typeface="Bahnschrift SemiLight" panose="020B0502040204020203" charset="0"/>
                          <a:cs typeface="Bahnschrift SemiLight" panose="020B0502040204020203" charset="0"/>
                          <a:sym typeface="+mn-ea"/>
                        </a:rPr>
                        <a:t>Loup </a:t>
                      </a:r>
                      <a:r>
                        <a:rPr lang="en-GB" altLang="en-US"/>
                        <a:t>5</a:t>
                      </a:r>
                      <a:endParaRPr lang="en-GB" altLang="en-US"/>
                    </a:p>
                  </a:txBody>
                  <a:tcPr/>
                </a:tc>
              </a:tr>
              <a:tr h="10280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10280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 sz="1800">
                        <a:solidFill>
                          <a:srgbClr val="0070C0"/>
                        </a:solidFill>
                        <a:latin typeface="Cascadia Code SemiBold" panose="020B0609020000020004" charset="0"/>
                        <a:cs typeface="Cascadia Code SemiBold" panose="020B0609020000020004" charset="0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 rot="480000">
            <a:off x="6581775" y="2635885"/>
            <a:ext cx="687070" cy="736600"/>
            <a:chOff x="14860" y="5042"/>
            <a:chExt cx="1500" cy="1520"/>
          </a:xfrm>
        </p:grpSpPr>
        <p:pic>
          <p:nvPicPr>
            <p:cNvPr id="12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860" y="5042"/>
              <a:ext cx="1500" cy="1520"/>
            </a:xfrm>
            <a:prstGeom prst="rect">
              <a:avLst/>
            </a:prstGeom>
          </p:spPr>
        </p:pic>
        <p:sp>
          <p:nvSpPr>
            <p:cNvPr id="13" name="Rectangles 12"/>
            <p:cNvSpPr/>
            <p:nvPr/>
          </p:nvSpPr>
          <p:spPr>
            <a:xfrm>
              <a:off x="15425" y="5768"/>
              <a:ext cx="891" cy="32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037830" y="2587625"/>
            <a:ext cx="670560" cy="796290"/>
            <a:chOff x="16430" y="6874"/>
            <a:chExt cx="1442" cy="1460"/>
          </a:xfrm>
        </p:grpSpPr>
        <p:pic>
          <p:nvPicPr>
            <p:cNvPr id="14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760000" flipH="1">
              <a:off x="16430" y="6874"/>
              <a:ext cx="1442" cy="1461"/>
            </a:xfrm>
            <a:prstGeom prst="rect">
              <a:avLst/>
            </a:prstGeom>
          </p:spPr>
        </p:pic>
        <p:sp>
          <p:nvSpPr>
            <p:cNvPr id="17" name="Rectangles 16"/>
            <p:cNvSpPr/>
            <p:nvPr/>
          </p:nvSpPr>
          <p:spPr>
            <a:xfrm>
              <a:off x="16614" y="7546"/>
              <a:ext cx="891" cy="32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128760" y="2672715"/>
            <a:ext cx="687070" cy="794385"/>
            <a:chOff x="16688" y="5101"/>
            <a:chExt cx="1442" cy="1460"/>
          </a:xfrm>
        </p:grpSpPr>
        <p:pic>
          <p:nvPicPr>
            <p:cNvPr id="15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6688" y="5101"/>
              <a:ext cx="1442" cy="1461"/>
            </a:xfrm>
            <a:prstGeom prst="rect">
              <a:avLst/>
            </a:prstGeom>
          </p:spPr>
        </p:pic>
        <p:sp>
          <p:nvSpPr>
            <p:cNvPr id="16" name="Rectangles 15"/>
            <p:cNvSpPr/>
            <p:nvPr/>
          </p:nvSpPr>
          <p:spPr>
            <a:xfrm>
              <a:off x="16765" y="5768"/>
              <a:ext cx="891" cy="32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0325100" y="2653665"/>
            <a:ext cx="697230" cy="762635"/>
            <a:chOff x="17758" y="6251"/>
            <a:chExt cx="1442" cy="1460"/>
          </a:xfrm>
        </p:grpSpPr>
        <p:pic>
          <p:nvPicPr>
            <p:cNvPr id="18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7758" y="6251"/>
              <a:ext cx="1442" cy="1461"/>
            </a:xfrm>
            <a:prstGeom prst="rect">
              <a:avLst/>
            </a:prstGeom>
          </p:spPr>
        </p:pic>
        <p:sp>
          <p:nvSpPr>
            <p:cNvPr id="21" name="Rectangles 20"/>
            <p:cNvSpPr/>
            <p:nvPr/>
          </p:nvSpPr>
          <p:spPr>
            <a:xfrm>
              <a:off x="17758" y="6996"/>
              <a:ext cx="891" cy="32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1302365" y="2489200"/>
            <a:ext cx="791210" cy="884555"/>
            <a:chOff x="14482" y="6621"/>
            <a:chExt cx="1658" cy="1680"/>
          </a:xfrm>
        </p:grpSpPr>
        <p:pic>
          <p:nvPicPr>
            <p:cNvPr id="24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">
              <a:off x="14482" y="6621"/>
              <a:ext cx="1659" cy="1681"/>
            </a:xfrm>
            <a:prstGeom prst="rect">
              <a:avLst/>
            </a:prstGeom>
          </p:spPr>
        </p:pic>
        <p:sp>
          <p:nvSpPr>
            <p:cNvPr id="26" name="Rectangles 25"/>
            <p:cNvSpPr/>
            <p:nvPr/>
          </p:nvSpPr>
          <p:spPr>
            <a:xfrm>
              <a:off x="15164" y="7546"/>
              <a:ext cx="891" cy="32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585710" y="3521075"/>
            <a:ext cx="777240" cy="855980"/>
            <a:chOff x="12221" y="6059"/>
            <a:chExt cx="2897" cy="2811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12221" y="6599"/>
              <a:ext cx="377" cy="224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12238" y="6128"/>
              <a:ext cx="1045" cy="274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13266" y="6059"/>
              <a:ext cx="1852" cy="3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12632" y="6076"/>
              <a:ext cx="2434" cy="49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8856980" y="3480435"/>
            <a:ext cx="848360" cy="951865"/>
            <a:chOff x="2447" y="2751"/>
            <a:chExt cx="2898" cy="2819"/>
          </a:xfrm>
        </p:grpSpPr>
        <p:cxnSp>
          <p:nvCxnSpPr>
            <p:cNvPr id="44" name="Straight Arrow Connector 43"/>
            <p:cNvCxnSpPr/>
            <p:nvPr/>
          </p:nvCxnSpPr>
          <p:spPr>
            <a:xfrm flipV="1">
              <a:off x="2859" y="2751"/>
              <a:ext cx="720" cy="497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2482" y="2760"/>
              <a:ext cx="1063" cy="2760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V="1">
              <a:off x="2447" y="2760"/>
              <a:ext cx="2898" cy="2811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2859" y="2777"/>
              <a:ext cx="2451" cy="480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9879965" y="3564255"/>
            <a:ext cx="875665" cy="854075"/>
            <a:chOff x="2465" y="2742"/>
            <a:chExt cx="2880" cy="2812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2465" y="2760"/>
              <a:ext cx="2880" cy="2794"/>
            </a:xfrm>
            <a:prstGeom prst="straightConnector1">
              <a:avLst/>
            </a:prstGeom>
            <a:ln>
              <a:solidFill>
                <a:srgbClr val="00B0F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2465" y="3274"/>
              <a:ext cx="394" cy="2246"/>
            </a:xfrm>
            <a:prstGeom prst="straightConnector1">
              <a:avLst/>
            </a:prstGeom>
            <a:ln>
              <a:solidFill>
                <a:srgbClr val="00B0F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V="1">
              <a:off x="2876" y="2742"/>
              <a:ext cx="686" cy="515"/>
            </a:xfrm>
            <a:prstGeom prst="straightConnector1">
              <a:avLst/>
            </a:prstGeom>
            <a:ln>
              <a:solidFill>
                <a:srgbClr val="00B0F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3562" y="2742"/>
              <a:ext cx="1783" cy="18"/>
            </a:xfrm>
            <a:prstGeom prst="straightConnector1">
              <a:avLst/>
            </a:prstGeom>
            <a:ln>
              <a:solidFill>
                <a:srgbClr val="00B0F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6393815" y="3564255"/>
            <a:ext cx="864870" cy="868680"/>
            <a:chOff x="12911" y="5164"/>
            <a:chExt cx="2913" cy="2812"/>
          </a:xfrm>
        </p:grpSpPr>
        <p:cxnSp>
          <p:nvCxnSpPr>
            <p:cNvPr id="55" name="Straight Arrow Connector 54"/>
            <p:cNvCxnSpPr/>
            <p:nvPr/>
          </p:nvCxnSpPr>
          <p:spPr>
            <a:xfrm flipV="1">
              <a:off x="13288" y="5173"/>
              <a:ext cx="2537" cy="514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13991" y="5199"/>
              <a:ext cx="1800" cy="17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>
              <a:off x="12911" y="5164"/>
              <a:ext cx="1097" cy="2812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V="1">
              <a:off x="12911" y="5713"/>
              <a:ext cx="377" cy="2246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/>
          <p:nvPr/>
        </p:nvCxnSpPr>
        <p:spPr>
          <a:xfrm flipV="1">
            <a:off x="10255250" y="4775200"/>
            <a:ext cx="251460" cy="84201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Text Box 59"/>
          <p:cNvSpPr txBox="1"/>
          <p:nvPr/>
        </p:nvSpPr>
        <p:spPr>
          <a:xfrm>
            <a:off x="9864090" y="5617210"/>
            <a:ext cx="795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solidFill>
                  <a:srgbClr val="00B0F0"/>
                </a:solidFill>
              </a:rPr>
              <a:t>alpha</a:t>
            </a:r>
            <a:endParaRPr lang="en-GB" altLang="en-US">
              <a:solidFill>
                <a:srgbClr val="00B0F0"/>
              </a:solidFill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6833235" y="4832350"/>
            <a:ext cx="251460" cy="84201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Text Box 74"/>
          <p:cNvSpPr txBox="1"/>
          <p:nvPr/>
        </p:nvSpPr>
        <p:spPr>
          <a:xfrm>
            <a:off x="6452235" y="5566410"/>
            <a:ext cx="795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>
                <a:solidFill>
                  <a:srgbClr val="00B050"/>
                </a:solidFill>
              </a:rPr>
              <a:t>beta</a:t>
            </a:r>
            <a:endParaRPr lang="en-GB" altLang="en-US">
              <a:solidFill>
                <a:srgbClr val="00B050"/>
              </a:solidFill>
            </a:endParaRPr>
          </a:p>
        </p:txBody>
      </p:sp>
      <p:cxnSp>
        <p:nvCxnSpPr>
          <p:cNvPr id="76" name="Straight Arrow Connector 75"/>
          <p:cNvCxnSpPr/>
          <p:nvPr/>
        </p:nvCxnSpPr>
        <p:spPr>
          <a:xfrm flipH="1" flipV="1">
            <a:off x="8096885" y="4953000"/>
            <a:ext cx="11430" cy="7899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Text Box 76"/>
          <p:cNvSpPr txBox="1"/>
          <p:nvPr/>
        </p:nvSpPr>
        <p:spPr>
          <a:xfrm>
            <a:off x="7788275" y="5687060"/>
            <a:ext cx="795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>
                <a:solidFill>
                  <a:srgbClr val="FF0000"/>
                </a:solidFill>
              </a:rPr>
              <a:t>delta</a:t>
            </a:r>
            <a:endParaRPr lang="en-GB" altLang="en-US">
              <a:solidFill>
                <a:srgbClr val="FF0000"/>
              </a:solidFill>
            </a:endParaRPr>
          </a:p>
        </p:txBody>
      </p:sp>
      <p:cxnSp>
        <p:nvCxnSpPr>
          <p:cNvPr id="81" name="Straight Arrow Connector 80"/>
          <p:cNvCxnSpPr>
            <a:stCxn id="82" idx="3"/>
          </p:cNvCxnSpPr>
          <p:nvPr/>
        </p:nvCxnSpPr>
        <p:spPr>
          <a:xfrm flipV="1">
            <a:off x="10903585" y="4953000"/>
            <a:ext cx="838835" cy="162941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Text Box 81"/>
          <p:cNvSpPr txBox="1"/>
          <p:nvPr/>
        </p:nvSpPr>
        <p:spPr>
          <a:xfrm>
            <a:off x="9954895" y="6398260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>
                <a:solidFill>
                  <a:srgbClr val="0070C0"/>
                </a:solidFill>
              </a:rPr>
              <a:t>omegas</a:t>
            </a:r>
            <a:endParaRPr lang="en-GB" altLang="en-US">
              <a:solidFill>
                <a:srgbClr val="0070C0"/>
              </a:solidFill>
            </a:endParaRPr>
          </a:p>
        </p:txBody>
      </p:sp>
      <p:sp>
        <p:nvSpPr>
          <p:cNvPr id="83" name="Text Box 82"/>
          <p:cNvSpPr txBox="1"/>
          <p:nvPr/>
        </p:nvSpPr>
        <p:spPr>
          <a:xfrm>
            <a:off x="6276975" y="4462145"/>
            <a:ext cx="1209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GB" altLang="en-US">
                <a:solidFill>
                  <a:srgbClr val="00B05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1073 km</a:t>
            </a:r>
            <a:endParaRPr lang="en-GB" altLang="en-US">
              <a:solidFill>
                <a:srgbClr val="00B050"/>
              </a:solidFill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88" name="Text Box 87"/>
          <p:cNvSpPr txBox="1"/>
          <p:nvPr/>
        </p:nvSpPr>
        <p:spPr>
          <a:xfrm>
            <a:off x="7486015" y="4464050"/>
            <a:ext cx="1209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GB" altLang="en-US">
                <a:solidFill>
                  <a:srgbClr val="FF000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1226 km</a:t>
            </a:r>
            <a:endParaRPr lang="en-GB" altLang="en-US">
              <a:solidFill>
                <a:srgbClr val="FF0000"/>
              </a:solidFill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90" name="Text Box 89"/>
          <p:cNvSpPr txBox="1"/>
          <p:nvPr/>
        </p:nvSpPr>
        <p:spPr>
          <a:xfrm>
            <a:off x="8695055" y="4464050"/>
            <a:ext cx="11207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GB" altLang="en-US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1310 km</a:t>
            </a:r>
            <a:endParaRPr lang="en-GB" altLang="en-US">
              <a:solidFill>
                <a:srgbClr val="7030A0"/>
              </a:solidFill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91" name="Text Box 90"/>
          <p:cNvSpPr txBox="1"/>
          <p:nvPr/>
        </p:nvSpPr>
        <p:spPr>
          <a:xfrm>
            <a:off x="9815830" y="4464050"/>
            <a:ext cx="10877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GB" altLang="en-US">
                <a:solidFill>
                  <a:srgbClr val="00B0F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864 km</a:t>
            </a:r>
            <a:endParaRPr lang="en-GB" altLang="en-US">
              <a:solidFill>
                <a:srgbClr val="00B0F0"/>
              </a:solidFill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92" name="Text Box 91"/>
          <p:cNvSpPr txBox="1"/>
          <p:nvPr/>
        </p:nvSpPr>
        <p:spPr>
          <a:xfrm>
            <a:off x="11070590" y="4462145"/>
            <a:ext cx="10115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GB" altLang="en-US">
                <a:solidFill>
                  <a:srgbClr val="0070C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... km</a:t>
            </a:r>
            <a:endParaRPr lang="en-GB" altLang="en-US">
              <a:solidFill>
                <a:srgbClr val="0070C0"/>
              </a:solidFill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93" name="Text Box 92"/>
          <p:cNvSpPr txBox="1"/>
          <p:nvPr/>
        </p:nvSpPr>
        <p:spPr>
          <a:xfrm>
            <a:off x="11180445" y="3580130"/>
            <a:ext cx="10115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en-GB" altLang="en-US">
                <a:sym typeface="+mn-ea"/>
              </a:rPr>
              <a:t>autres ..</a:t>
            </a:r>
            <a:endParaRPr lang="en-GB" altLang="en-US">
              <a:sym typeface="+mn-ea"/>
            </a:endParaRPr>
          </a:p>
        </p:txBody>
      </p:sp>
      <p:cxnSp>
        <p:nvCxnSpPr>
          <p:cNvPr id="94" name="Straight Arrow Connector 93"/>
          <p:cNvCxnSpPr>
            <a:stCxn id="82" idx="1"/>
          </p:cNvCxnSpPr>
          <p:nvPr/>
        </p:nvCxnSpPr>
        <p:spPr>
          <a:xfrm flipH="1" flipV="1">
            <a:off x="9201785" y="5225415"/>
            <a:ext cx="753110" cy="135699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7" grpId="0"/>
      <p:bldP spid="7" grpId="1"/>
      <p:bldP spid="60" grpId="0"/>
      <p:bldP spid="60" grpId="1"/>
      <p:bldP spid="75" grpId="0"/>
      <p:bldP spid="75" grpId="1"/>
      <p:bldP spid="77" grpId="0"/>
      <p:bldP spid="77" grpId="1"/>
      <p:bldP spid="82" grpId="0"/>
      <p:bldP spid="82" grpId="1"/>
      <p:bldP spid="83" grpId="0"/>
      <p:bldP spid="83" grpId="1"/>
      <p:bldP spid="88" grpId="0"/>
      <p:bldP spid="88" grpId="1"/>
      <p:bldP spid="90" grpId="0"/>
      <p:bldP spid="90" grpId="1"/>
      <p:bldP spid="91" grpId="0"/>
      <p:bldP spid="91" grpId="1"/>
      <p:bldP spid="92" grpId="0"/>
      <p:bldP spid="92" grpId="1"/>
      <p:bldP spid="93" grpId="0"/>
      <p:bldP spid="9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986145" y="141288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L'application de l'algorithme 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du Loup Gris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1166475" y="0"/>
            <a:ext cx="915670" cy="9277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400800" y="1353820"/>
            <a:ext cx="5283835" cy="47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Sélectionnez Alpha, Beta et Delta :</a:t>
            </a:r>
            <a:endParaRPr lang="en-GB" altLang="en-US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527800" y="2029460"/>
            <a:ext cx="5300980" cy="98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Identifiez les loups ayant les trois plus faibles valeurs de condition physique comme alpha, beta et delta.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2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" y="0"/>
            <a:ext cx="6290945" cy="685482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6527800" y="2982595"/>
            <a:ext cx="4914265" cy="927100"/>
            <a:chOff x="10280" y="4323"/>
            <a:chExt cx="7739" cy="1460"/>
          </a:xfrm>
        </p:grpSpPr>
        <p:grpSp>
          <p:nvGrpSpPr>
            <p:cNvPr id="19" name="Group 18"/>
            <p:cNvGrpSpPr/>
            <p:nvPr/>
          </p:nvGrpSpPr>
          <p:grpSpPr>
            <a:xfrm>
              <a:off x="16577" y="4323"/>
              <a:ext cx="1442" cy="1460"/>
              <a:chOff x="17758" y="6251"/>
              <a:chExt cx="1442" cy="1460"/>
            </a:xfrm>
          </p:grpSpPr>
          <p:pic>
            <p:nvPicPr>
              <p:cNvPr id="13" name="Content Placeholder 4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17758" y="6251"/>
                <a:ext cx="1442" cy="1461"/>
              </a:xfrm>
              <a:prstGeom prst="rect">
                <a:avLst/>
              </a:prstGeom>
            </p:spPr>
          </p:pic>
          <p:sp>
            <p:nvSpPr>
              <p:cNvPr id="18" name="Rectangles 17"/>
              <p:cNvSpPr/>
              <p:nvPr/>
            </p:nvSpPr>
            <p:spPr>
              <a:xfrm>
                <a:off x="17758" y="6996"/>
                <a:ext cx="891" cy="32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altLang="en-US"/>
              </a:p>
            </p:txBody>
          </p:sp>
        </p:grpSp>
        <p:sp>
          <p:nvSpPr>
            <p:cNvPr id="3" name="Text Box 2"/>
            <p:cNvSpPr txBox="1"/>
            <p:nvPr/>
          </p:nvSpPr>
          <p:spPr>
            <a:xfrm>
              <a:off x="10280" y="5068"/>
              <a:ext cx="643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altLang="en-US">
                  <a:latin typeface="Bahnschrift SemiLight" panose="020B0502040204020203" charset="0"/>
                  <a:cs typeface="Bahnschrift SemiLight" panose="020B0502040204020203" charset="0"/>
                  <a:sym typeface="+mn-ea"/>
                </a:rPr>
                <a:t>Alpha (α) : Loup 4 (Distance : 651 km)</a:t>
              </a:r>
              <a:endPara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527800" y="5273675"/>
            <a:ext cx="4734560" cy="927100"/>
            <a:chOff x="10415" y="7931"/>
            <a:chExt cx="7456" cy="1460"/>
          </a:xfrm>
        </p:grpSpPr>
        <p:grpSp>
          <p:nvGrpSpPr>
            <p:cNvPr id="20" name="Group 19"/>
            <p:cNvGrpSpPr/>
            <p:nvPr/>
          </p:nvGrpSpPr>
          <p:grpSpPr>
            <a:xfrm>
              <a:off x="16429" y="7931"/>
              <a:ext cx="1442" cy="1460"/>
              <a:chOff x="16430" y="6874"/>
              <a:chExt cx="1442" cy="1460"/>
            </a:xfrm>
          </p:grpSpPr>
          <p:pic>
            <p:nvPicPr>
              <p:cNvPr id="11" name="Content Placeholder 4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20760000" flipH="1">
                <a:off x="16430" y="6874"/>
                <a:ext cx="1442" cy="1461"/>
              </a:xfrm>
              <a:prstGeom prst="rect">
                <a:avLst/>
              </a:prstGeom>
            </p:spPr>
          </p:pic>
          <p:sp>
            <p:nvSpPr>
              <p:cNvPr id="17" name="Rectangles 16"/>
              <p:cNvSpPr/>
              <p:nvPr/>
            </p:nvSpPr>
            <p:spPr>
              <a:xfrm>
                <a:off x="16614" y="7546"/>
                <a:ext cx="891" cy="3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altLang="en-US"/>
              </a:p>
            </p:txBody>
          </p:sp>
        </p:grpSp>
        <p:sp>
          <p:nvSpPr>
            <p:cNvPr id="4" name="Text Box 3"/>
            <p:cNvSpPr txBox="1"/>
            <p:nvPr/>
          </p:nvSpPr>
          <p:spPr>
            <a:xfrm>
              <a:off x="10415" y="8517"/>
              <a:ext cx="629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altLang="en-US">
                  <a:latin typeface="Bahnschrift SemiLight" panose="020B0502040204020203" charset="0"/>
                  <a:cs typeface="Bahnschrift SemiLight" panose="020B0502040204020203" charset="0"/>
                  <a:sym typeface="+mn-ea"/>
                </a:rPr>
                <a:t>Delta (δ) : Loup 2 (Distance) : 785 km</a:t>
              </a:r>
              <a:endPara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27800" y="4027276"/>
            <a:ext cx="4675382" cy="965200"/>
            <a:chOff x="10280" y="6066"/>
            <a:chExt cx="7363" cy="1520"/>
          </a:xfrm>
        </p:grpSpPr>
        <p:grpSp>
          <p:nvGrpSpPr>
            <p:cNvPr id="33" name="Group 32"/>
            <p:cNvGrpSpPr/>
            <p:nvPr/>
          </p:nvGrpSpPr>
          <p:grpSpPr>
            <a:xfrm rot="480000">
              <a:off x="16143" y="6066"/>
              <a:ext cx="1500" cy="1520"/>
              <a:chOff x="15132" y="5010"/>
              <a:chExt cx="1500" cy="1520"/>
            </a:xfrm>
          </p:grpSpPr>
          <p:pic>
            <p:nvPicPr>
              <p:cNvPr id="34" name="Content Placeholder 4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5132" y="5010"/>
                <a:ext cx="1500" cy="1520"/>
              </a:xfrm>
              <a:prstGeom prst="rect">
                <a:avLst/>
              </a:prstGeom>
            </p:spPr>
          </p:pic>
          <p:sp>
            <p:nvSpPr>
              <p:cNvPr id="35" name="Rectangles 34"/>
              <p:cNvSpPr/>
              <p:nvPr/>
            </p:nvSpPr>
            <p:spPr>
              <a:xfrm>
                <a:off x="15425" y="5768"/>
                <a:ext cx="891" cy="32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altLang="en-US"/>
              </a:p>
            </p:txBody>
          </p:sp>
        </p:grpSp>
        <p:sp>
          <p:nvSpPr>
            <p:cNvPr id="6" name="Text Box 5"/>
            <p:cNvSpPr txBox="1"/>
            <p:nvPr/>
          </p:nvSpPr>
          <p:spPr>
            <a:xfrm>
              <a:off x="10280" y="6891"/>
              <a:ext cx="624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altLang="en-US">
                  <a:latin typeface="Bahnschrift SemiLight" panose="020B0502040204020203" charset="0"/>
                  <a:cs typeface="Bahnschrift SemiLight" panose="020B0502040204020203" charset="0"/>
                  <a:sym typeface="+mn-ea"/>
                </a:rPr>
                <a:t>Beta (β) : Loup 1 (Distance : 690 km)</a:t>
              </a:r>
              <a:endPara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7" grpId="0"/>
      <p:bldP spid="7" grpId="1"/>
      <p:bldP spid="8" grpId="0"/>
      <p:bldP spid="8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986145" y="141288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L'application de l'algorithme 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du Loup Gris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1166475" y="0"/>
            <a:ext cx="915670" cy="9277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3550" y="927735"/>
            <a:ext cx="5283835" cy="47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It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é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ration 1 :</a:t>
            </a:r>
            <a:endParaRPr lang="en-GB" altLang="en-US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90550" y="1603375"/>
            <a:ext cx="530098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Assumez que C = 0.5 et A = 0.5 pour simplifier.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629920" y="2402205"/>
            <a:ext cx="317944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Pour chaque loup (de 1 à 5) :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972820" y="2832735"/>
            <a:ext cx="0" cy="3674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>
            <a:off x="1249045" y="3012440"/>
            <a:ext cx="475297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Mise à jour de la position d'Alpha (Loup 2) :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1405890" y="3427095"/>
            <a:ext cx="4445" cy="114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9" name="Content Placeholder 28">
            <a:hlinkClick r:id="" action="ppaction://ole?verb=0"/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718310" y="3524250"/>
          <a:ext cx="2197100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" r:id="rId2" imgW="1409700" imgH="482600" progId="Equation.KSEE3">
                  <p:embed/>
                </p:oleObj>
              </mc:Choice>
              <mc:Fallback>
                <p:oleObj name="" r:id="rId2" imgW="1409700" imgH="482600" progId="Equation.KSEE3">
                  <p:embed/>
                  <p:pic>
                    <p:nvPicPr>
                      <p:cNvPr id="0" name="Picture 51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8310" y="3524250"/>
                        <a:ext cx="2197100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9"/>
          <p:cNvSpPr txBox="1"/>
          <p:nvPr/>
        </p:nvSpPr>
        <p:spPr>
          <a:xfrm>
            <a:off x="1249045" y="4658995"/>
            <a:ext cx="475297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Mise à jour de la position du Beta (Loup 1) :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405890" y="5073650"/>
            <a:ext cx="4445" cy="114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2" name="Object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98625" y="5170805"/>
          <a:ext cx="2236470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" r:id="rId4" imgW="1435100" imgH="482600" progId="Equation.KSEE3">
                  <p:embed/>
                </p:oleObj>
              </mc:Choice>
              <mc:Fallback>
                <p:oleObj name="" r:id="rId4" imgW="1435100" imgH="482600" progId="Equation.KSEE3">
                  <p:embed/>
                  <p:pic>
                    <p:nvPicPr>
                      <p:cNvPr id="0" name="Picture 51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98625" y="5170805"/>
                        <a:ext cx="2236470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Straight Connector 35"/>
          <p:cNvCxnSpPr/>
          <p:nvPr/>
        </p:nvCxnSpPr>
        <p:spPr>
          <a:xfrm>
            <a:off x="6626860" y="1866265"/>
            <a:ext cx="42545" cy="4979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7329170" y="2009775"/>
            <a:ext cx="475297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Mise à jour de la position de Delta (Loup 2) :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7486015" y="2424430"/>
            <a:ext cx="4445" cy="114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9" name="Object 3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78750" y="2521585"/>
          <a:ext cx="2236470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" r:id="rId6" imgW="1435100" imgH="482600" progId="Equation.KSEE3">
                  <p:embed/>
                </p:oleObj>
              </mc:Choice>
              <mc:Fallback>
                <p:oleObj name="" r:id="rId6" imgW="1435100" imgH="482600" progId="Equation.KSEE3">
                  <p:embed/>
                  <p:pic>
                    <p:nvPicPr>
                      <p:cNvPr id="0" name="Picture 51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78750" y="2521585"/>
                        <a:ext cx="2236470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40"/>
          <p:cNvSpPr txBox="1"/>
          <p:nvPr/>
        </p:nvSpPr>
        <p:spPr>
          <a:xfrm>
            <a:off x="7329170" y="3787775"/>
            <a:ext cx="475297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Mise à jour des positions :</a:t>
            </a:r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7486015" y="4202430"/>
            <a:ext cx="36195" cy="2479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5" name="Object 4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964488" y="4368483"/>
          <a:ext cx="2118995" cy="61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" r:id="rId8" imgW="1358900" imgH="393700" progId="Equation.KSEE3">
                  <p:embed/>
                </p:oleObj>
              </mc:Choice>
              <mc:Fallback>
                <p:oleObj name="" r:id="rId8" imgW="1358900" imgH="393700" progId="Equation.KSEE3">
                  <p:embed/>
                  <p:pic>
                    <p:nvPicPr>
                      <p:cNvPr id="0" name="Picture 512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64488" y="4368483"/>
                        <a:ext cx="2118995" cy="614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46"/>
          <p:cNvSpPr txBox="1"/>
          <p:nvPr/>
        </p:nvSpPr>
        <p:spPr>
          <a:xfrm>
            <a:off x="7653020" y="4948555"/>
            <a:ext cx="475297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 b="1">
                <a:latin typeface="Bahnschrift SemiLight" panose="020B0502040204020203" charset="0"/>
                <a:cs typeface="Bahnschrift SemiLight" panose="020B0502040204020203" charset="0"/>
              </a:rPr>
              <a:t>if 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 Wolf</a:t>
            </a:r>
            <a:r>
              <a:rPr lang="en-GB" altLang="en-US" baseline="-25000">
                <a:latin typeface="Bahnschrift SemiLight" panose="020B0502040204020203" charset="0"/>
                <a:cs typeface="Bahnschrift SemiLight" panose="020B0502040204020203" charset="0"/>
              </a:rPr>
              <a:t>i 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 </a:t>
            </a:r>
            <a:r>
              <a:rPr lang="en-GB" altLang="en-US" sz="2000">
                <a:latin typeface="Bahnschrift SemiLight" panose="020B0502040204020203" charset="0"/>
                <a:cs typeface="Bahnschrift SemiLight" panose="020B0502040204020203" charset="0"/>
              </a:rPr>
              <a:t>&lt;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 Wolf</a:t>
            </a:r>
            <a:r>
              <a:rPr lang="en-GB" altLang="en-US" baseline="-25000">
                <a:latin typeface="Bahnschrift SemiLight" panose="020B0502040204020203" charset="0"/>
                <a:cs typeface="Bahnschrift SemiLight" panose="020B0502040204020203" charset="0"/>
              </a:rPr>
              <a:t>1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</a:rPr>
              <a:t> or 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Wolf</a:t>
            </a:r>
            <a:r>
              <a:rPr lang="en-GB" altLang="en-US" baseline="-25000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2</a:t>
            </a:r>
            <a:r>
              <a:rPr lang="en-GB" altLang="en-US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 or Wolf</a:t>
            </a:r>
            <a:r>
              <a:rPr lang="en-GB" altLang="en-US" baseline="-25000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3</a:t>
            </a:r>
            <a:endParaRPr lang="en-GB" altLang="en-US" baseline="-25000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 baseline="-2500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 flipH="1">
            <a:off x="7970520" y="5434965"/>
            <a:ext cx="10795" cy="1016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Text Box 48"/>
          <p:cNvSpPr txBox="1"/>
          <p:nvPr/>
        </p:nvSpPr>
        <p:spPr>
          <a:xfrm>
            <a:off x="8133715" y="5747385"/>
            <a:ext cx="331025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</a:rPr>
              <a:t>donc je remplace .. ?</a:t>
            </a:r>
            <a:endParaRPr lang="en-GB" altLang="en-US">
              <a:solidFill>
                <a:srgbClr val="FF0000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GB" altLang="en-US">
              <a:solidFill>
                <a:srgbClr val="FF0000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7" grpId="0"/>
      <p:bldP spid="7" grpId="1"/>
      <p:bldP spid="15" grpId="0"/>
      <p:bldP spid="15" grpId="1"/>
      <p:bldP spid="22" grpId="0"/>
      <p:bldP spid="22" grpId="1"/>
      <p:bldP spid="26" grpId="0"/>
      <p:bldP spid="26" grpId="1"/>
      <p:bldP spid="30" grpId="0"/>
      <p:bldP spid="30" grpId="1"/>
      <p:bldP spid="37" grpId="0"/>
      <p:bldP spid="37" grpId="1"/>
      <p:bldP spid="41" grpId="0"/>
      <p:bldP spid="41" grpId="1"/>
      <p:bldP spid="47" grpId="0"/>
      <p:bldP spid="47" grpId="1"/>
      <p:bldP spid="49" grpId="0"/>
      <p:bldP spid="4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986145" y="141288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L'application de l'algorithme 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du Loup Gris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1166475" y="0"/>
            <a:ext cx="915670" cy="9277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3550" y="927735"/>
            <a:ext cx="5283835" cy="47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It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é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ration 1 :</a:t>
            </a:r>
            <a:endParaRPr lang="en-GB" altLang="en-US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06040" y="1025525"/>
            <a:ext cx="9362440" cy="147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Comparez les valeurs de condition physique des loups mis à jour avec la population existante.</a:t>
            </a: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Si la nouvelle valeur de condition physique est meilleure (plus basse) que l'ancienne, mettez à jour la position.</a:t>
            </a: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altLang="en-US" sz="1200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altLang="en-US" sz="1200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45820" y="2737485"/>
            <a:ext cx="11035030" cy="3954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Pour le 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Loup 4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, le parcours mis à jour a une distance plus courte (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864 km contre 690 km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), alors mettez à jour la position.</a:t>
            </a: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Pour le </a:t>
            </a:r>
            <a:r>
              <a:rPr lang="en-GB" altLang="en-US">
                <a:solidFill>
                  <a:srgbClr val="00B05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Loup 5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, le parcours mis à jour a la même distance (</a:t>
            </a:r>
            <a:r>
              <a:rPr lang="en-GB" altLang="en-US">
                <a:solidFill>
                  <a:srgbClr val="00B05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646 km contre 646 km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), alors conservez la position existante.</a:t>
            </a: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Pour le </a:t>
            </a:r>
            <a:r>
              <a:rPr lang="en-GB" altLang="en-US">
                <a:solidFill>
                  <a:srgbClr val="FFC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Loup 1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, le parcours mis à jour a une distance plus courte (</a:t>
            </a:r>
            <a:r>
              <a:rPr lang="en-GB" altLang="en-US">
                <a:solidFill>
                  <a:srgbClr val="FFC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675 km contre 1073 km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), alors mettez à jour la position.</a:t>
            </a: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Pour le </a:t>
            </a:r>
            <a:r>
              <a:rPr lang="en-GB" altLang="en-US">
                <a:solidFill>
                  <a:schemeClr val="accent5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Loup 2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, le parcours mis à jour a une distance plus courte (</a:t>
            </a:r>
            <a:r>
              <a:rPr lang="en-GB" altLang="en-US">
                <a:solidFill>
                  <a:schemeClr val="accent5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754 km contre 1226 km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), alors mettez à jour la position.</a:t>
            </a: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Pour le </a:t>
            </a:r>
            <a:r>
              <a:rPr lang="en-GB" altLang="en-US">
                <a:solidFill>
                  <a:srgbClr val="7030A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Loup 3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, le parcours mis à jour a une distance plus courte (</a:t>
            </a:r>
            <a:r>
              <a:rPr lang="en-GB" altLang="en-US">
                <a:solidFill>
                  <a:srgbClr val="7030A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721 km contre </a:t>
            </a:r>
            <a:r>
              <a:rPr lang="en-GB" altLang="en-US">
                <a:solidFill>
                  <a:srgbClr val="7030A0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1310 km</a:t>
            </a:r>
            <a:r>
              <a:rPr lang="en-GB" altLang="en-US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), alors mettez à jour la position.</a:t>
            </a:r>
            <a:endParaRPr lang="en-GB" altLang="en-US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7" grpId="0"/>
      <p:bldP spid="7" grpId="1"/>
      <p:bldP spid="6" grpId="0"/>
      <p:bldP spid="6" grpId="1"/>
      <p:bldP spid="8" grpId="0"/>
      <p:bldP spid="8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986145" y="141288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L'application de l'algorithme 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du Loup Gris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1166475" y="0"/>
            <a:ext cx="915670" cy="9277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3550" y="927735"/>
            <a:ext cx="5283835" cy="471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It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é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ration 1 :</a:t>
            </a:r>
            <a:endParaRPr lang="en-GB" altLang="en-US">
              <a:solidFill>
                <a:srgbClr val="FF000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03755" y="1513205"/>
            <a:ext cx="7984490" cy="1789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indent="0">
              <a:buNone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</a:rPr>
              <a:t>Sélectionnez 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Alpha, Beta et Delta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</a:rPr>
              <a:t> (mis à jour) :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indent="0">
              <a:buNone/>
            </a:pPr>
            <a:endParaRPr lang="en-GB" altLang="en-US"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indent="0">
              <a:buNone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</a:rPr>
              <a:t>Identifiez les loups ayant les trois plus faibles valeurs de condition physique comme alpha, beta et delta en fonction des positions mises à jour.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latin typeface="Cascadia Mono SemiBold" panose="020B0609020000020004" charset="0"/>
              <a:cs typeface="Cascadia Mono SemiBold" panose="020B06090200000200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GB" altLang="en-US"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76525" y="38461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Alpha (α) : 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Loup 1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 (Distance : 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646 km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)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676525" y="48025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Beta (β) : </a:t>
            </a:r>
            <a:r>
              <a:rPr lang="en-GB" altLang="en-US">
                <a:solidFill>
                  <a:srgbClr val="0070C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Loup 5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 (Distance : </a:t>
            </a:r>
            <a:r>
              <a:rPr lang="en-GB" altLang="en-US">
                <a:solidFill>
                  <a:srgbClr val="0070C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675 km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)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451850" y="3550920"/>
            <a:ext cx="670560" cy="796290"/>
            <a:chOff x="16430" y="6874"/>
            <a:chExt cx="1442" cy="1460"/>
          </a:xfrm>
        </p:grpSpPr>
        <p:pic>
          <p:nvPicPr>
            <p:cNvPr id="14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760000" flipH="1">
              <a:off x="16430" y="6874"/>
              <a:ext cx="1442" cy="1461"/>
            </a:xfrm>
            <a:prstGeom prst="rect">
              <a:avLst/>
            </a:prstGeom>
          </p:spPr>
        </p:pic>
        <p:sp>
          <p:nvSpPr>
            <p:cNvPr id="17" name="Rectangles 16"/>
            <p:cNvSpPr/>
            <p:nvPr/>
          </p:nvSpPr>
          <p:spPr>
            <a:xfrm>
              <a:off x="16614" y="7546"/>
              <a:ext cx="891" cy="32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391525" y="4413885"/>
            <a:ext cx="791210" cy="884555"/>
            <a:chOff x="14482" y="6621"/>
            <a:chExt cx="1658" cy="1680"/>
          </a:xfrm>
        </p:grpSpPr>
        <p:pic>
          <p:nvPicPr>
            <p:cNvPr id="11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">
              <a:off x="14482" y="6621"/>
              <a:ext cx="1659" cy="1681"/>
            </a:xfrm>
            <a:prstGeom prst="rect">
              <a:avLst/>
            </a:prstGeom>
          </p:spPr>
        </p:pic>
        <p:sp>
          <p:nvSpPr>
            <p:cNvPr id="12" name="Rectangles 11"/>
            <p:cNvSpPr/>
            <p:nvPr/>
          </p:nvSpPr>
          <p:spPr>
            <a:xfrm>
              <a:off x="15164" y="7546"/>
              <a:ext cx="891" cy="32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  <p:sp>
        <p:nvSpPr>
          <p:cNvPr id="13" name="Text Box 12"/>
          <p:cNvSpPr txBox="1"/>
          <p:nvPr/>
        </p:nvSpPr>
        <p:spPr>
          <a:xfrm>
            <a:off x="2676525" y="57588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Delta (δ) : </a:t>
            </a:r>
            <a:r>
              <a:rPr lang="en-GB" altLang="en-US">
                <a:solidFill>
                  <a:srgbClr val="7030A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Loup 3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 (Distance : </a:t>
            </a:r>
            <a:r>
              <a:rPr lang="en-GB" altLang="en-US">
                <a:solidFill>
                  <a:srgbClr val="7030A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721 km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)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8489950" y="5395595"/>
            <a:ext cx="687070" cy="794385"/>
            <a:chOff x="16688" y="5101"/>
            <a:chExt cx="1442" cy="1460"/>
          </a:xfrm>
        </p:grpSpPr>
        <p:pic>
          <p:nvPicPr>
            <p:cNvPr id="15" name="Content Placeholder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6688" y="5101"/>
              <a:ext cx="1442" cy="1461"/>
            </a:xfrm>
            <a:prstGeom prst="rect">
              <a:avLst/>
            </a:prstGeom>
          </p:spPr>
        </p:pic>
        <p:sp>
          <p:nvSpPr>
            <p:cNvPr id="16" name="Rectangles 15"/>
            <p:cNvSpPr/>
            <p:nvPr/>
          </p:nvSpPr>
          <p:spPr>
            <a:xfrm>
              <a:off x="16765" y="5768"/>
              <a:ext cx="891" cy="32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7" grpId="0"/>
      <p:bldP spid="7" grpId="1"/>
      <p:bldP spid="3" grpId="0"/>
      <p:bldP spid="3" grpId="1"/>
      <p:bldP spid="4" grpId="0"/>
      <p:bldP spid="4" grpId="1"/>
      <p:bldP spid="9" grpId="0"/>
      <p:bldP spid="9" grpId="1"/>
      <p:bldP spid="13" grpId="0"/>
      <p:bldP spid="13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48000" y="141288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L'application de l'algorithme 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  <a:p>
            <a:pPr algn="ctr"/>
            <a:r>
              <a:rPr lang="en-GB" altLang="en-US">
                <a:latin typeface="Cascadia Code SemiBold" panose="020B0609020000020004" charset="0"/>
                <a:cs typeface="Cascadia Code SemiBold" panose="020B0609020000020004" charset="0"/>
              </a:rPr>
              <a:t>du Loup Gris</a:t>
            </a:r>
            <a:endParaRPr lang="en-GB" altLang="en-US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8018145" y="2237105"/>
            <a:ext cx="3482340" cy="352806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74065" y="2112010"/>
            <a:ext cx="6096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Continuez le processus pour la </a:t>
            </a:r>
            <a:r>
              <a:rPr lang="en-GB" altLang="en-US">
                <a:solidFill>
                  <a:srgbClr val="00B05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deuxième</a:t>
            </a:r>
            <a:r>
              <a:rPr lang="en-GB" altLang="en-US">
                <a:solidFill>
                  <a:schemeClr val="accent6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 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itération et les itérations suivantes.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Après </a:t>
            </a:r>
            <a:r>
              <a:rPr lang="en-GB" altLang="en-US">
                <a:solidFill>
                  <a:srgbClr val="00B05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la dernière itération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, l'algorithme renvoie le </a:t>
            </a:r>
            <a:r>
              <a:rPr lang="en-GB" altLang="en-US">
                <a:solidFill>
                  <a:srgbClr val="FF000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meilleur itinéraire et sa distance correspondante</a:t>
            </a: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.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Le processus se poursuit jusqu'à ce que l'algorithme converge vers une solution pour le problème du voyageur de commerce (TSP).</a:t>
            </a:r>
            <a:endParaRPr lang="en-GB" altLang="en-US">
              <a:latin typeface="Cascadia Mono SemiBold" panose="020B0609020000020004" charset="0"/>
              <a:cs typeface="Cascadia Mono SemiBold" panose="020B0609020000020004" charset="0"/>
              <a:sym typeface="+mn-ea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948930" y="3871595"/>
            <a:ext cx="2656840" cy="8089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600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α</a:t>
            </a:r>
            <a:endParaRPr lang="en-GB" altLang="en-US" sz="600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089650" y="3444875"/>
            <a:ext cx="2077720" cy="52514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9" grpId="0"/>
      <p:bldP spid="9" grpId="1"/>
      <p:bldP spid="27" grpId="0" animBg="1"/>
      <p:bldP spid="27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EEEEE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21" name="Content Placeholder 20" descr="93046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3775" y="1317625"/>
            <a:ext cx="4351655" cy="435165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963920" y="2552700"/>
            <a:ext cx="53136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>
              <a:buNone/>
            </a:pPr>
            <a:r>
              <a:rPr 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Optimisation de</a:t>
            </a:r>
            <a:r>
              <a:rPr lang="en-GB" alt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s paramètres du</a:t>
            </a:r>
            <a:r>
              <a:rPr 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 neural network avec GWO</a:t>
            </a:r>
            <a:endParaRPr lang="fr-FR" sz="3600" b="1" dirty="0">
              <a:solidFill>
                <a:srgbClr val="273239"/>
              </a:solidFill>
              <a:effectLst/>
              <a:latin typeface="Bahnschrift SemiBold SemiConden" panose="020B0502040204020203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357370" y="81280"/>
            <a:ext cx="1630045" cy="65405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Démarrer</a:t>
            </a:r>
            <a:endParaRPr lang="en-GB" altLang="en-US" sz="1600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3475990" y="1047750"/>
            <a:ext cx="3423920" cy="5988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Définir les 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paramètres</a:t>
            </a:r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 initiaux et la population</a:t>
            </a:r>
            <a:endParaRPr lang="en-GB" altLang="en-US" sz="1400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3475990" y="1958975"/>
            <a:ext cx="3423920" cy="5988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Calculer 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fitness</a:t>
            </a:r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 de chaque 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loup gris</a:t>
            </a:r>
            <a:endParaRPr lang="en-GB" altLang="en-US" sz="1400">
              <a:solidFill>
                <a:srgbClr val="00B0F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3475990" y="2870200"/>
            <a:ext cx="3423920" cy="5988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Comparer </a:t>
            </a:r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la valeur de fitness et déterminer les 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trois meilleurs loups</a:t>
            </a:r>
            <a:endParaRPr lang="en-GB" altLang="en-US" sz="1400">
              <a:solidFill>
                <a:srgbClr val="00B0F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475673" y="3781425"/>
            <a:ext cx="3424555" cy="6000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mettre à jour </a:t>
            </a:r>
            <a:r>
              <a:rPr lang="en-GB" altLang="en-US" sz="16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x</a:t>
            </a:r>
            <a:r>
              <a:rPr lang="en-GB" altLang="en-US" sz="1400" baseline="-250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i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 </a:t>
            </a:r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  <a:sym typeface="+mn-ea"/>
              </a:rPr>
              <a:t>,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a</a:t>
            </a:r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 ,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C</a:t>
            </a:r>
            <a:r>
              <a:rPr lang="en-GB" altLang="en-US" sz="1400" baseline="-250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i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 </a:t>
            </a:r>
            <a:r>
              <a:rPr lang="en-GB" altLang="en-US" sz="14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et </a:t>
            </a:r>
            <a:r>
              <a:rPr lang="en-GB" altLang="en-US" sz="14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A</a:t>
            </a:r>
            <a:r>
              <a:rPr lang="en-GB" altLang="en-US" sz="1400" baseline="-25000">
                <a:solidFill>
                  <a:srgbClr val="00B0F0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i</a:t>
            </a:r>
            <a:endParaRPr lang="en-GB" altLang="en-US" sz="1400" baseline="-25000">
              <a:solidFill>
                <a:srgbClr val="00B0F0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5" name="Diamond 14"/>
          <p:cNvSpPr/>
          <p:nvPr/>
        </p:nvSpPr>
        <p:spPr>
          <a:xfrm>
            <a:off x="4223385" y="4693920"/>
            <a:ext cx="1929130" cy="1294765"/>
          </a:xfrm>
          <a:prstGeom prst="diamond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900">
                <a:solidFill>
                  <a:schemeClr val="accent2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Vérifiez la condition de terminaison</a:t>
            </a:r>
            <a:endParaRPr lang="en-GB" altLang="en-US" sz="900">
              <a:solidFill>
                <a:schemeClr val="accent2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461510" y="6301105"/>
            <a:ext cx="1452880" cy="55880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16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Fin</a:t>
            </a:r>
            <a:endParaRPr lang="en-GB" altLang="en-US" sz="1600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7" name="Can 16"/>
          <p:cNvSpPr/>
          <p:nvPr/>
        </p:nvSpPr>
        <p:spPr>
          <a:xfrm>
            <a:off x="8346440" y="466725"/>
            <a:ext cx="1513205" cy="1381760"/>
          </a:xfrm>
          <a:prstGeom prst="ca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 sz="1200">
                <a:solidFill>
                  <a:schemeClr val="tx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Ensemble d'entraînement</a:t>
            </a:r>
            <a:endParaRPr lang="en-GB" altLang="en-US" sz="1200">
              <a:solidFill>
                <a:schemeClr val="tx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187950" y="735330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187950" y="1646555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187950" y="2557780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187950" y="3469640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5187950" y="5989955"/>
            <a:ext cx="0" cy="31242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187950" y="4380230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102725" y="1848485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366760" y="2150745"/>
            <a:ext cx="1544320" cy="154432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31" name="Content Placeholder 30" descr="93046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71230" y="2279015"/>
            <a:ext cx="1288415" cy="1288415"/>
          </a:xfrm>
          <a:prstGeom prst="rect">
            <a:avLst/>
          </a:prstGeom>
        </p:spPr>
      </p:pic>
      <p:sp>
        <p:nvSpPr>
          <p:cNvPr id="32" name="Text Box 31"/>
          <p:cNvSpPr txBox="1"/>
          <p:nvPr/>
        </p:nvSpPr>
        <p:spPr>
          <a:xfrm rot="840000">
            <a:off x="6595745" y="2778760"/>
            <a:ext cx="1859280" cy="250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GB" altLang="en-US" sz="1000">
                <a:solidFill>
                  <a:srgbClr val="FF0000"/>
                </a:solidFill>
                <a:latin typeface="Bahnschrift SemiLight" panose="020B0502040204020203" charset="0"/>
                <a:cs typeface="Bahnschrift SemiLight" panose="020B0502040204020203" charset="0"/>
              </a:rPr>
              <a:t>EQM</a:t>
            </a:r>
            <a:endParaRPr lang="en-GB" altLang="en-US" sz="1000">
              <a:solidFill>
                <a:srgbClr val="FF0000"/>
              </a:solidFill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cxnSp>
        <p:nvCxnSpPr>
          <p:cNvPr id="33" name="Straight Arrow Connector 32"/>
          <p:cNvCxnSpPr>
            <a:stCxn id="30" idx="2"/>
          </p:cNvCxnSpPr>
          <p:nvPr/>
        </p:nvCxnSpPr>
        <p:spPr>
          <a:xfrm flipH="1" flipV="1">
            <a:off x="6924040" y="2559050"/>
            <a:ext cx="1442720" cy="36385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903720" y="1969770"/>
            <a:ext cx="1706880" cy="40640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/>
        </p:nvSpPr>
        <p:spPr>
          <a:xfrm rot="840000">
            <a:off x="6902450" y="1808480"/>
            <a:ext cx="1859280" cy="250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GB" altLang="en-US" sz="1000">
                <a:solidFill>
                  <a:srgbClr val="FF0000"/>
                </a:solidFill>
                <a:latin typeface="Bahnschrift SemiBold Condensed" panose="020B0502040204020203" charset="0"/>
                <a:cs typeface="Bahnschrift SemiBold Condensed" panose="020B0502040204020203" charset="0"/>
              </a:rPr>
              <a:t>Attribuer des poids et des biais</a:t>
            </a:r>
            <a:endParaRPr lang="en-GB" altLang="en-US" sz="1000">
              <a:solidFill>
                <a:srgbClr val="FF000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  <a:p>
            <a:endParaRPr lang="en-GB" altLang="en-US" sz="1000">
              <a:solidFill>
                <a:srgbClr val="FF0000"/>
              </a:solidFill>
              <a:latin typeface="Bahnschrift SemiBold Condensed" panose="020B0502040204020203" charset="0"/>
              <a:cs typeface="Bahnschrift SemiBold Condensed" panose="020B0502040204020203" charset="0"/>
            </a:endParaRPr>
          </a:p>
        </p:txBody>
      </p:sp>
      <p:cxnSp>
        <p:nvCxnSpPr>
          <p:cNvPr id="37" name="Elbow Connector 36"/>
          <p:cNvCxnSpPr>
            <a:stCxn id="15" idx="1"/>
          </p:cNvCxnSpPr>
          <p:nvPr/>
        </p:nvCxnSpPr>
        <p:spPr>
          <a:xfrm rot="10800000" flipH="1">
            <a:off x="4222750" y="1736090"/>
            <a:ext cx="942975" cy="3605530"/>
          </a:xfrm>
          <a:prstGeom prst="bentConnector4">
            <a:avLst>
              <a:gd name="adj1" fmla="val -129764"/>
              <a:gd name="adj2" fmla="val 98133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7007860" y="4089400"/>
            <a:ext cx="4415155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GB" altLang="en-US" sz="1400">
                <a:latin typeface="Cascadia Code SemiBold" panose="020B0609020000020004" charset="0"/>
                <a:cs typeface="Cascadia Code SemiBold" panose="020B0609020000020004" charset="0"/>
              </a:rPr>
              <a:t>Erreur quadratique moyenne :</a:t>
            </a:r>
            <a:endParaRPr lang="en-GB" altLang="en-US" sz="1400"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graphicFrame>
        <p:nvGraphicFramePr>
          <p:cNvPr id="11" name="Object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85530" y="4548505"/>
          <a:ext cx="2590165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85530" y="4548505"/>
                        <a:ext cx="2590165" cy="611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0" grpId="0" animBg="1"/>
      <p:bldP spid="10" grpId="1" animBg="1"/>
      <p:bldP spid="12" grpId="0" animBg="1"/>
      <p:bldP spid="35" grpId="0"/>
      <p:bldP spid="32" grpId="0"/>
      <p:bldP spid="30" grpId="0" animBg="1"/>
      <p:bldP spid="17" grpId="0" animBg="1"/>
      <p:bldP spid="12" grpId="1" animBg="1"/>
      <p:bldP spid="35" grpId="1"/>
      <p:bldP spid="32" grpId="1"/>
      <p:bldP spid="30" grpId="1" animBg="1"/>
      <p:bldP spid="17" grpId="1" animBg="1"/>
      <p:bldP spid="9" grpId="0"/>
      <p:bldP spid="9" grpId="1"/>
      <p:bldP spid="13" grpId="0" animBg="1"/>
      <p:bldP spid="13" grpId="1" animBg="1"/>
      <p:bldP spid="14" grpId="0" bldLvl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EEEEE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21" name="Content Placeholder 20" descr="93046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3775" y="1317625"/>
            <a:ext cx="4351655" cy="435165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963920" y="2616835"/>
            <a:ext cx="55778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>
              <a:buNone/>
            </a:pPr>
            <a:r>
              <a:rPr 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Optimisation de</a:t>
            </a:r>
            <a:r>
              <a:rPr lang="en-GB" alt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s </a:t>
            </a:r>
            <a:r>
              <a:rPr lang="en-GB" alt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hyperparamètres</a:t>
            </a:r>
            <a:r>
              <a:rPr lang="en-GB" alt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 du</a:t>
            </a:r>
            <a:r>
              <a:rPr lang="fr-FR" sz="3600" b="1" dirty="0">
                <a:solidFill>
                  <a:srgbClr val="273239"/>
                </a:solidFill>
                <a:effectLst/>
                <a:latin typeface="Bahnschrift SemiBold SemiConden" panose="020B0502040204020203" pitchFamily="34" charset="0"/>
                <a:sym typeface="+mn-ea"/>
              </a:rPr>
              <a:t> neural network avec GWO</a:t>
            </a:r>
            <a:endParaRPr lang="fr-FR" sz="3600" b="1" dirty="0">
              <a:solidFill>
                <a:srgbClr val="273239"/>
              </a:solidFill>
              <a:effectLst/>
              <a:latin typeface="Bahnschrift SemiBold SemiConden" panose="020B0502040204020203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9540" y="313055"/>
            <a:ext cx="9772650" cy="6047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/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EEEEE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506855" y="2432050"/>
            <a:ext cx="9431655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11500">
                <a:latin typeface="Cascadia Mono SemiBold" panose="020B0609020000020004" charset="0"/>
                <a:cs typeface="Cascadia Mono SemiBold" panose="020B0609020000020004" charset="0"/>
              </a:rPr>
              <a:t>Merci</a:t>
            </a:r>
            <a:endParaRPr lang="en-GB" altLang="en-US" sz="11500"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9050</Words>
  <Application>WPS Presentation</Application>
  <PresentationFormat>Grand écran</PresentationFormat>
  <Paragraphs>574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35</vt:i4>
      </vt:variant>
    </vt:vector>
  </HeadingPairs>
  <TitlesOfParts>
    <vt:vector size="71" baseType="lpstr">
      <vt:lpstr>Arial</vt:lpstr>
      <vt:lpstr>SimSun</vt:lpstr>
      <vt:lpstr>Wingdings</vt:lpstr>
      <vt:lpstr>Cascadia Mono SemiBold</vt:lpstr>
      <vt:lpstr>Bahnschrift Condensed</vt:lpstr>
      <vt:lpstr>Malgun Gothic</vt:lpstr>
      <vt:lpstr>Cascadia Code SemiBold</vt:lpstr>
      <vt:lpstr>Bahnschrift SemiBold SemiConden</vt:lpstr>
      <vt:lpstr>Bahnschrift</vt:lpstr>
      <vt:lpstr>Bahnschrift SemiBold</vt:lpstr>
      <vt:lpstr>Bahnschrift SemiBold Condensed</vt:lpstr>
      <vt:lpstr>Bahnschrift SemiLight</vt:lpstr>
      <vt:lpstr>Bahnschrift Light Condensed</vt:lpstr>
      <vt:lpstr>Microsoft YaHei</vt:lpstr>
      <vt:lpstr>Arial Unicode MS</vt:lpstr>
      <vt:lpstr>Calibri Light</vt:lpstr>
      <vt:lpstr>Calibri</vt:lpstr>
      <vt:lpstr>Office Theme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Grey Wolf Optimizer(GWO)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Wolf Optimizer(GWO)</dc:title>
  <dc:creator>PC</dc:creator>
  <cp:lastModifiedBy>PC</cp:lastModifiedBy>
  <cp:revision>20</cp:revision>
  <dcterms:created xsi:type="dcterms:W3CDTF">2024-02-09T22:03:00Z</dcterms:created>
  <dcterms:modified xsi:type="dcterms:W3CDTF">2024-02-12T12:50:36Z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BEFD9247D7BF4EF491E8604FF1DB2066_12</vt:lpwstr>
  </property>
  <property fmtid="{D5CDD505-2E9C-101B-9397-08002B2CF9AE}" pid="3" name="KSOProductBuildVer">
    <vt:lpwstr>2057-12.2.0.13431</vt:lpwstr>
  </property>
</Properties>
</file>